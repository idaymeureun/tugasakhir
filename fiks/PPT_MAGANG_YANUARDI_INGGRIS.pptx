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80" r:id="rId17"/>
    <p:sldId id="281" r:id="rId18"/>
    <p:sldId id="285" r:id="rId19"/>
    <p:sldId id="282" r:id="rId20"/>
    <p:sldId id="283" r:id="rId21"/>
    <p:sldId id="284" r:id="rId22"/>
    <p:sldId id="278" r:id="rId23"/>
    <p:sldId id="279" r:id="rId24"/>
    <p:sldId id="286" r:id="rId25"/>
  </p:sldIdLst>
  <p:sldSz cx="18288000" cy="10287000"/>
  <p:notesSz cx="6858000" cy="9144000"/>
  <p:embeddedFontLst>
    <p:embeddedFont>
      <p:font typeface="Arial MT Pro" panose="020B0604020202020204" charset="0"/>
      <p:regular r:id="rId27"/>
    </p:embeddedFont>
    <p:embeddedFont>
      <p:font typeface="Arial MT Pro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F878C-3E2D-47FD-802D-83A935246873}" type="datetimeFigureOut">
              <a:rPr lang="id-ID" smtClean="0"/>
              <a:t>30/11/2025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1299D-89B1-40F0-A52B-A06781FC8A5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85087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62387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7E46F-4237-698B-E8EC-57E84099D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1B4A6-9907-7F3A-E322-12DD541F2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CEDE4-B579-225A-90AC-F43BEBA8C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E8FF9-77BD-2886-701E-BE24899C1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81832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4DDD5-CE2B-5066-AED6-02F9E0775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CEB28-9268-61E8-CE8F-B8CCC43D5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2FAA8-2949-D68C-FE46-E658C6DC2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834D6-62F3-A455-3DD1-44EE2B69D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52488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133B-9BA5-DAF9-E17F-17221FB0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1ED15-BB5F-E155-E040-36087B07D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883F7-2998-CC2E-3CB0-94300A506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D4BA0-BDD4-B52B-3635-2760B43D6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54946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98F07-27A0-5743-60EA-39A094BC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8C734-33C0-7E5A-BF1E-28940FCDC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1B4E9-3DEC-49A4-03A9-EA7CAA31D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0F2E9-B858-A0F5-D4B4-F5B68625B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6932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B5F3F-2A4C-BD91-B1A6-0097669DA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129FC-1C64-5391-8845-B80018876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1427F-F451-6144-B6B7-1373E04CC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05E8B-8911-D192-2CC7-5EB225AE9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27025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0FAB4-72DB-DDCF-F9D6-E6D710A88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0A91E-5A2C-1B71-EB85-DB4FCF3EC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38FBD-0B9C-7E5E-3FD3-89A2E99D6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BE78A-5896-664A-DDFB-EF7CF8A4C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52435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F1764-A14E-B423-7761-D5F13B40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3871D-6128-CA22-5CA6-E13160471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6F983-86CF-3C51-F64E-DB4111F8F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DD632-7DBF-CF8B-6B72-21720B268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44677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773C-1B35-5080-7B3B-CD448451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8666F-66D5-BC05-D5B8-8DBCFAD99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BD5F9-14C9-1E62-9085-28A8CB19A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4BCF0-568C-E3D3-7A81-BCAAF9842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8718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D46D2-0E5B-6AB3-1D83-A3CF6F8E3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D3432-6EF8-D899-E47D-E5E6F3C23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99056F-E47B-AE1A-8D74-C927E3B98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71586-16AA-E2E6-79B4-73CA8B711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0437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2F295-53A9-1A6B-A855-CDADC6D7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094AF-AF77-3029-B88B-F68730641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41D04-FAE4-BB40-30A7-1E0C15901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AB302-BECF-B852-66C4-6B3A5FE23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7425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F19C-9197-E4B3-76D8-89656D0CC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2283A-87CE-BBDB-1A22-A29E07EDA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38F60-1969-5451-8E1B-0101996A4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08073-03FB-4B84-19B6-DEF0397AF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651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49AF7-0D15-B336-940C-9BCF7A57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B0766-3448-7FBF-943A-C8D76E241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BC16F-1B44-0453-5875-9AF4CC7BE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9C6D5-C807-2119-EE35-A47A452A0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2014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3" name="TextBox 3"/>
          <p:cNvSpPr txBox="1"/>
          <p:nvPr/>
        </p:nvSpPr>
        <p:spPr>
          <a:xfrm>
            <a:off x="3067812" y="2207191"/>
            <a:ext cx="14458188" cy="3638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Design of a Dual Automatic Door Control System with Optocoupler Isolation and Docking Charging Mechanism Based on Arduino Mega and ESP32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56952" y="6326648"/>
            <a:ext cx="14842020" cy="13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 YANUARDI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 221344031</a:t>
            </a:r>
          </a:p>
          <a:p>
            <a:pPr algn="l">
              <a:lnSpc>
                <a:spcPts val="2520"/>
              </a:lnSpc>
            </a:pPr>
            <a:endParaRPr lang="en-US" sz="2100" b="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just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:Ir. Hertog Nugroho, M.Sc., Ph.D.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67812" y="7924818"/>
            <a:ext cx="5923788" cy="1603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D4 TELECOMMUNICATIONS ENGINEERING ELECTRICAL ENGINEERING DEPARTMENTBANDUNG STATE POLYTECHNIC</a:t>
            </a:r>
          </a:p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67812" y="6326648"/>
            <a:ext cx="14842020" cy="13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NAME               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NIM                     </a:t>
            </a:r>
          </a:p>
          <a:p>
            <a:pPr algn="l">
              <a:lnSpc>
                <a:spcPts val="2520"/>
              </a:lnSpc>
            </a:pPr>
            <a:endParaRPr lang="en-US" sz="2100" b="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just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ADVISOR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01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" name="TextBox 4"/>
          <p:cNvSpPr txBox="1"/>
          <p:nvPr/>
        </p:nvSpPr>
        <p:spPr>
          <a:xfrm>
            <a:off x="1481328" y="1834169"/>
            <a:ext cx="15325344" cy="91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Background &amp; 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67225" y="5870042"/>
            <a:ext cx="3641554" cy="60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BackGround</a:t>
            </a:r>
            <a:endParaRPr lang="en-US" sz="3999" b="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964919" y="4276427"/>
            <a:ext cx="8130874" cy="4144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47" lvl="1" indent="-457200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Automation Requirements: Drone stations require precise and secure moving – </a:t>
            </a:r>
          </a:p>
          <a:p>
            <a:pPr marL="781047" lvl="1" indent="-457200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doors.Security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Issues: Noise from high-torque motors risks damaging </a:t>
            </a:r>
          </a:p>
          <a:p>
            <a:pPr marL="781047" lvl="1" indent="-457200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microcontrollers.IoT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Integration: Wireless monitoring without delay is </a:t>
            </a:r>
          </a:p>
          <a:p>
            <a:pPr marL="781047" lvl="1" indent="-457200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required.Charging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: The charging mechanism must be automatic and secure (interlock).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" name="TextBox 4"/>
          <p:cNvSpPr txBox="1"/>
          <p:nvPr/>
        </p:nvSpPr>
        <p:spPr>
          <a:xfrm>
            <a:off x="1481328" y="1834169"/>
            <a:ext cx="15325344" cy="91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Background &amp; 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38400" y="5614756"/>
            <a:ext cx="3161812" cy="6021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38772" y="3586401"/>
            <a:ext cx="9867900" cy="4491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695" lvl="1" indent="-323848">
              <a:lnSpc>
                <a:spcPct val="2000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Synchronization: Adjusts two stepper motors with 2. </a:t>
            </a:r>
          </a:p>
          <a:p>
            <a:pPr marL="647695" lvl="1" indent="-323848">
              <a:lnSpc>
                <a:spcPct val="2000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precision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timing.Charging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: Automatic charging </a:t>
            </a:r>
          </a:p>
          <a:p>
            <a:pPr marL="647695" lvl="1" indent="-323848">
              <a:lnSpc>
                <a:spcPct val="2000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mechanism with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interlock.Protection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: Optocoupler </a:t>
            </a:r>
          </a:p>
          <a:p>
            <a:pPr marL="647695" lvl="1" indent="-323848">
              <a:lnSpc>
                <a:spcPct val="2000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isolation &amp; limit switch for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safety.IoT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Monitor: ESP32 web server for real-time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076479-5D91-44FA-A24B-A3B237E49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1757"/>
            <a:ext cx="18288000" cy="8879518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4220" y="1342273"/>
            <a:ext cx="18288000" cy="8944728"/>
          </a:xfrm>
          <a:custGeom>
            <a:avLst/>
            <a:gdLst/>
            <a:ahLst/>
            <a:cxnLst/>
            <a:rect l="l" t="t" r="r" b="b"/>
            <a:pathLst>
              <a:path w="18288000" h="10201275">
                <a:moveTo>
                  <a:pt x="0" y="0"/>
                </a:moveTo>
                <a:lnTo>
                  <a:pt x="18288000" y="0"/>
                </a:lnTo>
                <a:lnTo>
                  <a:pt x="18288000" y="10201275"/>
                </a:lnTo>
                <a:lnTo>
                  <a:pt x="0" y="1020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6000"/>
            </a:blip>
            <a:stretch>
              <a:fillRect t="-17226" b="-17226"/>
            </a:stretch>
          </a:blipFill>
          <a:effectLst>
            <a:outerShdw dist="50800" dir="5400000" algn="ctr" rotWithShape="0">
              <a:schemeClr val="tx1">
                <a:alpha val="0"/>
              </a:scheme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id-ID" dirty="0"/>
          </a:p>
        </p:txBody>
      </p:sp>
      <p:sp>
        <p:nvSpPr>
          <p:cNvPr id="6" name="TextBox 6"/>
          <p:cNvSpPr txBox="1"/>
          <p:nvPr/>
        </p:nvSpPr>
        <p:spPr>
          <a:xfrm>
            <a:off x="1481328" y="1876962"/>
            <a:ext cx="15325344" cy="91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Time and Place of Implementation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17236" y="3048073"/>
            <a:ext cx="11490678" cy="2522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This internship will be held on: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Date: July 1, 2025 to January 2, 2026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Time: 8:00 a.m. to 5:30 p.m. WIB (Western Indonesian Time)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Location: PT. Solusi </a:t>
            </a:r>
            <a:r>
              <a:rPr lang="en-US" sz="28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Intek</a:t>
            </a:r>
            <a:r>
              <a:rPr lang="en-US" sz="28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Indonesia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14047" y="8977299"/>
            <a:ext cx="3472025" cy="45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Company Location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70502" y="5789614"/>
            <a:ext cx="7441563" cy="183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At Workshop 08 </a:t>
            </a:r>
            <a:r>
              <a:rPr lang="en-US" sz="27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Cikunir</a:t>
            </a:r>
            <a:r>
              <a:rPr lang="en-US" sz="27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, located at </a:t>
            </a:r>
            <a:r>
              <a:rPr lang="en-US" sz="27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Cikunir</a:t>
            </a:r>
            <a:r>
              <a:rPr lang="en-US" sz="27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Raya No. 8, RT.004/RW.011, </a:t>
            </a:r>
            <a:r>
              <a:rPr lang="en-US" sz="27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Jatimekar</a:t>
            </a:r>
            <a:r>
              <a:rPr lang="en-US" sz="27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, </a:t>
            </a:r>
            <a:r>
              <a:rPr lang="en-US" sz="27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Jatiasih</a:t>
            </a:r>
            <a:r>
              <a:rPr lang="en-US" sz="27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District, Bekasi City, West Java 17422.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2A66A7-8B23-0ADD-F35C-E5E0B04442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1649" y="5789614"/>
            <a:ext cx="3734423" cy="26718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3" name="TextBox 3"/>
          <p:cNvSpPr txBox="1"/>
          <p:nvPr/>
        </p:nvSpPr>
        <p:spPr>
          <a:xfrm>
            <a:off x="1481328" y="4230846"/>
            <a:ext cx="15325344" cy="1825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THEORETICAL BASIS &amp;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619488-C381-D842-1161-50598B08E76A}"/>
              </a:ext>
            </a:extLst>
          </p:cNvPr>
          <p:cNvSpPr txBox="1"/>
          <p:nvPr/>
        </p:nvSpPr>
        <p:spPr>
          <a:xfrm>
            <a:off x="304800" y="2095500"/>
            <a:ext cx="12268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7128"/>
              </a:lnSpc>
              <a:defRPr/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Theoretical Basis: Controller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CB0915-B028-E42C-A5BD-5863745FD80F}"/>
              </a:ext>
            </a:extLst>
          </p:cNvPr>
          <p:cNvSpPr txBox="1"/>
          <p:nvPr/>
        </p:nvSpPr>
        <p:spPr>
          <a:xfrm>
            <a:off x="331839" y="3647690"/>
            <a:ext cx="9144000" cy="556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695" lvl="1" indent="-323848">
              <a:lnSpc>
                <a:spcPct val="150000"/>
              </a:lnSpc>
              <a:buFontTx/>
              <a:buAutoNum type="arabicPeriod"/>
              <a:defRPr/>
            </a:pPr>
            <a:r>
              <a:rPr lang="en-US" sz="2999" dirty="0">
                <a:solidFill>
                  <a:schemeClr val="bg1">
                    <a:lumMod val="95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Arduino Mega 2560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>
                <a:solidFill>
                  <a:schemeClr val="bg1">
                    <a:lumMod val="95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Main control unit. Selected for its 54 I/O pins and 4 UART hardware. Handles motor and sensor logic.2. 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>
                <a:solidFill>
                  <a:schemeClr val="bg1">
                    <a:lumMod val="95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2.ESP32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 err="1">
                <a:solidFill>
                  <a:schemeClr val="bg1">
                    <a:lumMod val="95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WiFi</a:t>
            </a:r>
            <a:r>
              <a:rPr lang="en-US" sz="2999" dirty="0">
                <a:solidFill>
                  <a:schemeClr val="bg1">
                    <a:lumMod val="95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 communication module. Functions as a standalone web server that sends commands to Mega via Serial.</a:t>
            </a:r>
            <a:endParaRPr kumimoji="0" lang="en-US" sz="2999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48A7E7B-0991-1016-D6FC-B86EE4A97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73DF7E09-8B85-4E1B-B5EE-D65C8D3D9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BDE39D7A-F214-E473-A0A5-98C65AD89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52" name="Picture 51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76149EB7-752C-0325-5B9E-CF7C91130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3771900"/>
            <a:ext cx="7319118" cy="46481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196D6-9907-87EF-E29D-4DA00764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855234-7477-FF19-C18C-68B48A7E33E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636074-D163-A649-FCA9-42955F5376B0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7128"/>
              </a:lnSpc>
              <a:defRPr/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Theoretical Basis: Actuator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483207-B54E-D306-1F6F-E3C64C36D1CE}"/>
              </a:ext>
            </a:extLst>
          </p:cNvPr>
          <p:cNvSpPr txBox="1"/>
          <p:nvPr/>
        </p:nvSpPr>
        <p:spPr>
          <a:xfrm>
            <a:off x="304800" y="3802442"/>
            <a:ext cx="9144000" cy="417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197" lvl="1" indent="-51435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HUIYINN Stepper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MotorStrong</a:t>
            </a:r>
            <a:endParaRPr lang="en-US" sz="2999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lvl="1" algn="just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holding torque to support door loads. Precise movement per step (1.8 degrees).</a:t>
            </a:r>
          </a:p>
          <a:p>
            <a:pPr marL="323847" lvl="1" algn="just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2.  B6600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DriverMotor</a:t>
            </a:r>
            <a:endParaRPr lang="en-US" sz="2999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lvl="1" algn="just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current amplifier (up to 4A) with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Microstepping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feature for extremely smooth movement.</a:t>
            </a:r>
            <a:endParaRPr kumimoji="0" lang="en-US" sz="29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C4602A4F-D318-033B-CBB3-91F253C98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6CA70276-2F7D-7CC7-010E-3AF4A39F8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6F90E630-6485-4429-F6CB-5976574CF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4" name="Picture 3" descr="A close-up of a microstep driver&#10;&#10;AI-generated content may be incorrect.">
            <a:extLst>
              <a:ext uri="{FF2B5EF4-FFF2-40B4-BE49-F238E27FC236}">
                <a16:creationId xmlns:a16="http://schemas.microsoft.com/office/drawing/2014/main" id="{F9025E00-ABEC-28E4-6311-6537990CB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3802442"/>
            <a:ext cx="7152943" cy="454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11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3865D-6A28-68BD-8132-F7962C4E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3A15FF-E1B8-1575-79DF-C307E894F9D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FC4FB3-9B15-8BBA-C9E8-D75F8C1173C3}"/>
              </a:ext>
            </a:extLst>
          </p:cNvPr>
          <p:cNvSpPr txBox="1"/>
          <p:nvPr/>
        </p:nvSpPr>
        <p:spPr>
          <a:xfrm>
            <a:off x="304800" y="2095500"/>
            <a:ext cx="121158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7128"/>
              </a:lnSpc>
              <a:defRPr/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Theoretical Basis: Protection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802A18-5A19-D356-0122-5AB58AEA79C0}"/>
              </a:ext>
            </a:extLst>
          </p:cNvPr>
          <p:cNvSpPr txBox="1"/>
          <p:nvPr/>
        </p:nvSpPr>
        <p:spPr>
          <a:xfrm>
            <a:off x="304800" y="4415915"/>
            <a:ext cx="9144000" cy="417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197" lvl="1" indent="-51435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PC817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OptocouplerIsolates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the Arduino's 5V signal from the motor's 30V voltage using light. Prevents damage caused by Back-EMF. </a:t>
            </a:r>
          </a:p>
          <a:p>
            <a:pPr marL="838197" lvl="1" indent="-51435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Limit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SwitchMechanical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limit sensor (NO) to detect the end position of the door and stop the motor automatically.</a:t>
            </a:r>
            <a:endParaRPr kumimoji="0" lang="en-US" sz="29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61D8F150-AC7C-2700-0F01-F2CF23793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C8209ED0-CF43-48CB-3F38-6837042B5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D9B56892-CADE-8097-1D64-1F01577C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5" name="Picture 4" descr="A close-up of a device&#10;&#10;AI-generated content may be incorrect.">
            <a:extLst>
              <a:ext uri="{FF2B5EF4-FFF2-40B4-BE49-F238E27FC236}">
                <a16:creationId xmlns:a16="http://schemas.microsoft.com/office/drawing/2014/main" id="{38D02619-009B-6C09-31D6-65B0BF7AF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579" y="4093908"/>
            <a:ext cx="6961918" cy="441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74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05CA4-C364-11EC-23FC-168091520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42990B-33FF-314B-B6F1-CDD37F437A8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6A5C1F-671B-6302-0A95-8DFEF297DCB7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 Bold"/>
                <a:ea typeface="Arial MT Pro Bold"/>
                <a:cs typeface="Arial MT Pro Bold"/>
                <a:sym typeface="Arial MT Pro Bold"/>
              </a:rPr>
              <a:t>Control Logic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D03A7C-A032-B60F-8267-E9CABA621BBC}"/>
              </a:ext>
            </a:extLst>
          </p:cNvPr>
          <p:cNvSpPr txBox="1"/>
          <p:nvPr/>
        </p:nvSpPr>
        <p:spPr>
          <a:xfrm>
            <a:off x="876300" y="3876214"/>
            <a:ext cx="9144000" cy="4870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695" lvl="1" indent="-323848">
              <a:lnSpc>
                <a:spcPct val="150000"/>
              </a:lnSpc>
              <a:buFontTx/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Non-Blocking (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millis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)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Enables multitasking: the motor moves while reading sensors without a ‘delay()’ pause. 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2. Async Web Server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The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ESPAsyncWebServer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library handles HTTP requests in the background without blocking the system.</a:t>
            </a:r>
            <a:endParaRPr kumimoji="0" lang="en-US" sz="29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EBFD81C-A7DF-16F3-12F8-FDF4EF4E7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BE7C3CE8-CA83-6902-DEA4-2B31DD71F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BF72553A-F8A0-EFE3-AAD7-725B9BE39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2A582-884C-8B89-5508-3B928F76D194}"/>
              </a:ext>
            </a:extLst>
          </p:cNvPr>
          <p:cNvSpPr/>
          <p:nvPr/>
        </p:nvSpPr>
        <p:spPr>
          <a:xfrm>
            <a:off x="10210800" y="1479303"/>
            <a:ext cx="6172200" cy="86552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B2BFA-2744-8446-FB1D-48018877A1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600" y="1646357"/>
            <a:ext cx="5105400" cy="84735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1687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57A3F-D44B-C928-557B-FE04B399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1E321B-D1D2-B7B4-5508-52AEB0ADCE5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35308B-EEC5-634B-20CC-3185F8B48A87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Hardware </a:t>
            </a:r>
            <a:r>
              <a:rPr lang="en-US" sz="6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Assembly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B71958-1876-5356-3599-34B56360E589}"/>
              </a:ext>
            </a:extLst>
          </p:cNvPr>
          <p:cNvSpPr txBox="1"/>
          <p:nvPr/>
        </p:nvSpPr>
        <p:spPr>
          <a:xfrm>
            <a:off x="319548" y="3914197"/>
            <a:ext cx="9144000" cy="417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197" lvl="1" indent="-514350">
              <a:lnSpc>
                <a:spcPct val="150000"/>
              </a:lnSpc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Preparation: Prepare Mega, ESP32, TB6600 Driver, and 30V Power Supply.</a:t>
            </a:r>
          </a:p>
          <a:p>
            <a:pPr marL="838197" lvl="1" indent="-514350">
              <a:lnSpc>
                <a:spcPct val="150000"/>
              </a:lnSpc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PCB Prototype: Solder the Optocoupler and terminal block for a sturdy signal path.</a:t>
            </a:r>
          </a:p>
          <a:p>
            <a:pPr marL="838197" lvl="1" indent="-514350">
              <a:lnSpc>
                <a:spcPct val="150000"/>
              </a:lnSpc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Wiring: Connect the Serial2 (Mega) communication path to Serial2 (ESP32).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3D2ABC2E-0345-BE15-E9A9-D06A09EC6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DA863707-F81D-25F7-D454-6CFA7385A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B8B9E193-8FA2-E921-BBFD-709BBFEBD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13" name="Picture 12" descr="A close-up of a computer&#10;&#10;AI-generated content may be incorrect.">
            <a:extLst>
              <a:ext uri="{FF2B5EF4-FFF2-40B4-BE49-F238E27FC236}">
                <a16:creationId xmlns:a16="http://schemas.microsoft.com/office/drawing/2014/main" id="{D6465DDA-D8BE-6EE1-74C8-6FA4E44E7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64241" y="2723259"/>
            <a:ext cx="4920247" cy="656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85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5B31C-A1FA-0E97-F632-BB61DAC23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9F14F9-47C4-8FD5-ADDA-3D5A6A40C1A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E15E4A-B030-2D95-2B0A-CAB5A0D2C66F}"/>
              </a:ext>
            </a:extLst>
          </p:cNvPr>
          <p:cNvSpPr txBox="1"/>
          <p:nvPr/>
        </p:nvSpPr>
        <p:spPr>
          <a:xfrm>
            <a:off x="-525383" y="2053596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Pemrogramming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6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&amp; UI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3F1F70-145A-D32B-D9BB-A57C7E3F354F}"/>
              </a:ext>
            </a:extLst>
          </p:cNvPr>
          <p:cNvSpPr txBox="1"/>
          <p:nvPr/>
        </p:nvSpPr>
        <p:spPr>
          <a:xfrm>
            <a:off x="304800" y="4415915"/>
            <a:ext cx="9144000" cy="417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197" lvl="1" indent="-514350">
              <a:lnSpc>
                <a:spcPct val="150000"/>
              </a:lnSpc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Mega Firmware: Motor logic and sensor interlock program with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millis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().</a:t>
            </a:r>
          </a:p>
          <a:p>
            <a:pPr marL="838197" lvl="1" indent="-514350">
              <a:lnSpc>
                <a:spcPct val="150000"/>
              </a:lnSpc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ESP32 Web: Creating an HTML/CSS/JS interface stored in program memory.</a:t>
            </a:r>
          </a:p>
          <a:p>
            <a:pPr marL="838197" lvl="1" indent="-514350">
              <a:lnSpc>
                <a:spcPct val="150000"/>
              </a:lnSpc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Serial Data: Protocol for sending real-time status from Mega to Web.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CAB2CE8-BEB6-A125-8C68-AA1285B13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031D3ACD-AAE9-1060-9E9F-CECC22D87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80AECCAE-854D-CF4A-535F-1998F928C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81D8F1-2587-6541-F3E4-DCA7FAE59E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5434" y="2578552"/>
            <a:ext cx="3015933" cy="6495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9F7B1E7-9425-0E6B-EDBD-B08231DF5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5197" y="2823291"/>
            <a:ext cx="3888972" cy="557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81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5E012-FC37-9A16-A7A3-5EE44BAA2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617403-8906-B1EE-950E-59642DF3D3C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7E16B0D4-7827-4D1E-C3C4-3088D6CD6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49F148E4-6F29-4056-0C1C-EA3463ADB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9C352C9F-AE4C-7CC0-02F8-3B26E1B8D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0AE8F3-DF32-B976-452E-ADA73E6239ED}"/>
              </a:ext>
            </a:extLst>
          </p:cNvPr>
          <p:cNvSpPr txBox="1"/>
          <p:nvPr/>
        </p:nvSpPr>
        <p:spPr>
          <a:xfrm>
            <a:off x="2095500" y="4481780"/>
            <a:ext cx="14097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8000" b="1" dirty="0">
                <a:solidFill>
                  <a:schemeClr val="bg1"/>
                </a:solidFill>
              </a:rPr>
              <a:t>TESTING &amp; ANALYSIS</a:t>
            </a:r>
            <a:endParaRPr lang="id-ID" sz="8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40944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3F26E-8EE1-E9D2-8257-68689DCE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FB518F-A42F-E6B4-8FC4-8455049FED8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E6EDD84A-3B1D-68C5-2F06-E810D07AC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08F8F964-798F-29B0-1617-B2A4BD52C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AE7211BC-0D28-7336-3A8C-C72EB33C9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B2DC6-F824-2168-53F0-233DD9B3F24F}"/>
              </a:ext>
            </a:extLst>
          </p:cNvPr>
          <p:cNvSpPr txBox="1"/>
          <p:nvPr/>
        </p:nvSpPr>
        <p:spPr>
          <a:xfrm>
            <a:off x="-1828800" y="24003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Methodology &amp; </a:t>
            </a:r>
            <a:r>
              <a:rPr lang="en-US" sz="6000" b="1" i="0" dirty="0">
                <a:solidFill>
                  <a:srgbClr val="0284C7"/>
                </a:solidFill>
                <a:effectLst/>
              </a:rPr>
              <a:t>Testing</a:t>
            </a:r>
            <a:endParaRPr lang="id-ID" sz="600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42D3A7-D3F2-9C52-F7CE-32AFFD6F295A}"/>
              </a:ext>
            </a:extLst>
          </p:cNvPr>
          <p:cNvSpPr txBox="1"/>
          <p:nvPr/>
        </p:nvSpPr>
        <p:spPr>
          <a:xfrm>
            <a:off x="533400" y="3985504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1. </a:t>
            </a:r>
          </a:p>
          <a:p>
            <a:pPr marL="323847" lvl="1">
              <a:lnSpc>
                <a:spcPts val="3599"/>
              </a:lnSpc>
              <a:defRPr/>
            </a:pPr>
            <a:r>
              <a:rPr lang="en-US" sz="28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Partial Testing: Motor, Limit Switch, Insulation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9BD11D-5A72-6FFD-CC8F-9E5450315740}"/>
              </a:ext>
            </a:extLst>
          </p:cNvPr>
          <p:cNvSpPr txBox="1"/>
          <p:nvPr/>
        </p:nvSpPr>
        <p:spPr>
          <a:xfrm>
            <a:off x="8461131" y="3985504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srgbClr val="1F497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2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</a:p>
          <a:p>
            <a:pPr marL="323847" lvl="1">
              <a:lnSpc>
                <a:spcPts val="3599"/>
              </a:lnSpc>
              <a:defRPr/>
            </a:pPr>
            <a:r>
              <a:rPr lang="en-US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Communication Test: UART ESP32 – ATMega2560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571C33-33B0-8C00-CC7E-021A56F1E2EE}"/>
              </a:ext>
            </a:extLst>
          </p:cNvPr>
          <p:cNvSpPr txBox="1"/>
          <p:nvPr/>
        </p:nvSpPr>
        <p:spPr>
          <a:xfrm>
            <a:off x="533400" y="6347454"/>
            <a:ext cx="102108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srgbClr val="1F497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3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</a:p>
          <a:p>
            <a:pPr marL="323847" lvl="1">
              <a:lnSpc>
                <a:spcPts val="3599"/>
              </a:lnSpc>
              <a:defRPr/>
            </a:pPr>
            <a:r>
              <a:rPr lang="en-US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Functional Testing: Synchronization &amp; Charging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0968D3-B492-D861-B8F3-06EF1F3618E4}"/>
              </a:ext>
            </a:extLst>
          </p:cNvPr>
          <p:cNvSpPr txBox="1"/>
          <p:nvPr/>
        </p:nvSpPr>
        <p:spPr>
          <a:xfrm>
            <a:off x="8461131" y="6351358"/>
            <a:ext cx="102108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srgbClr val="1F497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4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</a:p>
          <a:p>
            <a:pPr marL="323847" lvl="1">
              <a:lnSpc>
                <a:spcPts val="3599"/>
              </a:lnSpc>
              <a:defRPr/>
            </a:pPr>
            <a:r>
              <a:rPr lang="en-US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IoT Test: Web Server Latency.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1227143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1762-58B8-C7B9-F51B-97E64CF8C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7017A0-E7B5-5C14-A520-2958499632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A36E97AE-BEA5-FE55-E985-C2F0E96D1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224D05C6-E715-1129-3001-1909E7DA8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4650FA37-5834-B99A-9011-F5977D823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8E9AA7-BB48-D553-D5CF-8153730DB839}"/>
              </a:ext>
            </a:extLst>
          </p:cNvPr>
          <p:cNvSpPr txBox="1"/>
          <p:nvPr/>
        </p:nvSpPr>
        <p:spPr>
          <a:xfrm>
            <a:off x="-1828800" y="24003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Motor </a:t>
            </a:r>
            <a:r>
              <a:rPr lang="en-US" sz="6000" b="1" dirty="0">
                <a:solidFill>
                  <a:srgbClr val="0284C7"/>
                </a:solidFill>
              </a:rPr>
              <a:t>Performance Test</a:t>
            </a:r>
            <a:endParaRPr lang="id-ID" sz="6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D22CF9-0261-1BB4-7B16-5D507D8540E8}"/>
              </a:ext>
            </a:extLst>
          </p:cNvPr>
          <p:cNvSpPr txBox="1"/>
          <p:nvPr/>
        </p:nvSpPr>
        <p:spPr>
          <a:xfrm>
            <a:off x="304800" y="4246487"/>
            <a:ext cx="10058400" cy="360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Results &amp; Analysis</a:t>
            </a:r>
          </a:p>
          <a:p>
            <a:pPr marL="666747" lvl="1" indent="-342900">
              <a:lnSpc>
                <a:spcPct val="150000"/>
              </a:lnSpc>
              <a:buFontTx/>
              <a:buChar char="-"/>
              <a:defRPr/>
            </a:pP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The OPEN_1/CLOSE_1 command is responded to correctly.</a:t>
            </a:r>
          </a:p>
          <a:p>
            <a:pPr marL="666747" lvl="1" indent="-342900">
              <a:lnSpc>
                <a:spcPct val="150000"/>
              </a:lnSpc>
              <a:buFontTx/>
              <a:buChar char="-"/>
              <a:defRPr/>
            </a:pP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Smooth Movement Due to TB6600 </a:t>
            </a:r>
          </a:p>
          <a:p>
            <a:pPr marL="666747" lvl="1" indent="-342900">
              <a:lnSpc>
                <a:spcPct val="150000"/>
              </a:lnSpc>
              <a:buFontTx/>
              <a:buChar char="-"/>
              <a:defRPr/>
            </a:pP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MicrosteppingNo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‘Step Loss’ on normal door load</a:t>
            </a:r>
          </a:p>
        </p:txBody>
      </p:sp>
    </p:spTree>
    <p:extLst>
      <p:ext uri="{BB962C8B-B14F-4D97-AF65-F5344CB8AC3E}">
        <p14:creationId xmlns:p14="http://schemas.microsoft.com/office/powerpoint/2010/main" val="2910852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E4621-3564-F5EF-6662-C7AC8BAE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361EE3-718C-CA3D-53E5-818876BEA21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400694C-B6AC-6E16-98FE-0587E9153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ACB35A65-67C8-42AA-89E0-5336758CF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FDE928ED-F4FB-EB47-0AAB-8ED92A715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F2619-3DA8-1DEB-CC5C-A07171C92009}"/>
              </a:ext>
            </a:extLst>
          </p:cNvPr>
          <p:cNvSpPr txBox="1"/>
          <p:nvPr/>
        </p:nvSpPr>
        <p:spPr>
          <a:xfrm>
            <a:off x="-2057400" y="2050949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Protection System </a:t>
            </a:r>
            <a:r>
              <a:rPr lang="en-US" sz="6000" b="1" dirty="0">
                <a:solidFill>
                  <a:srgbClr val="0284C7"/>
                </a:solidFill>
              </a:rPr>
              <a:t>Test</a:t>
            </a:r>
            <a:endParaRPr lang="id-ID" sz="6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15C93B-52F8-5A64-E092-6695A1183D99}"/>
              </a:ext>
            </a:extLst>
          </p:cNvPr>
          <p:cNvSpPr txBox="1"/>
          <p:nvPr/>
        </p:nvSpPr>
        <p:spPr>
          <a:xfrm>
            <a:off x="304800" y="4060494"/>
            <a:ext cx="15163800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Limit Switch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The motor stops &lt; 120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ms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after the switch is pressed. Debounce works well to prevent signal bouncing.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D090C-D10B-2F27-11D4-F07E2C05E35B}"/>
              </a:ext>
            </a:extLst>
          </p:cNvPr>
          <p:cNvSpPr txBox="1"/>
          <p:nvPr/>
        </p:nvSpPr>
        <p:spPr>
          <a:xfrm>
            <a:off x="328246" y="6438025"/>
            <a:ext cx="15140354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Optocoupler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The signal is transmitted using light, so that Back-EMF or voltage surges from the motor will never damage the microcontroller.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4155916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7890A-B92D-F8A3-F8C7-FDEA3998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A6B241C-C377-2791-BA51-3E84090437F9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C31F7021-35F0-560D-E606-89805279C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5AEA9857-8AE4-5CDD-B4D2-504602265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89403063-A991-36A7-D608-A80AE3233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B9CC5D-3D0E-9541-875E-C308FB902245}"/>
              </a:ext>
            </a:extLst>
          </p:cNvPr>
          <p:cNvSpPr txBox="1"/>
          <p:nvPr/>
        </p:nvSpPr>
        <p:spPr>
          <a:xfrm>
            <a:off x="-3200400" y="24765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dirty="0">
                <a:solidFill>
                  <a:schemeClr val="bg1"/>
                </a:solidFill>
              </a:rPr>
              <a:t>Communication</a:t>
            </a:r>
            <a:r>
              <a:rPr lang="en-US" sz="60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6000" b="1" dirty="0">
                <a:solidFill>
                  <a:srgbClr val="0284C7"/>
                </a:solidFill>
              </a:rPr>
              <a:t>Test</a:t>
            </a:r>
            <a:endParaRPr lang="id-ID" sz="6000" dirty="0">
              <a:effectLst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E65085-1AF7-C215-BAEF-E3D4D37DB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158437"/>
              </p:ext>
            </p:extLst>
          </p:nvPr>
        </p:nvGraphicFramePr>
        <p:xfrm>
          <a:off x="2590800" y="4609904"/>
          <a:ext cx="13106400" cy="363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0">
                  <a:extLst>
                    <a:ext uri="{9D8B030D-6E8A-4147-A177-3AD203B41FA5}">
                      <a16:colId xmlns:a16="http://schemas.microsoft.com/office/drawing/2014/main" val="1722942245"/>
                    </a:ext>
                  </a:extLst>
                </a:gridCol>
                <a:gridCol w="4368800">
                  <a:extLst>
                    <a:ext uri="{9D8B030D-6E8A-4147-A177-3AD203B41FA5}">
                      <a16:colId xmlns:a16="http://schemas.microsoft.com/office/drawing/2014/main" val="3191568008"/>
                    </a:ext>
                  </a:extLst>
                </a:gridCol>
                <a:gridCol w="4368800">
                  <a:extLst>
                    <a:ext uri="{9D8B030D-6E8A-4147-A177-3AD203B41FA5}">
                      <a16:colId xmlns:a16="http://schemas.microsoft.com/office/drawing/2014/main" val="905992514"/>
                    </a:ext>
                  </a:extLst>
                </a:gridCol>
              </a:tblGrid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000" b="1" i="0" dirty="0">
                          <a:solidFill>
                            <a:srgbClr val="0F172A"/>
                          </a:solidFill>
                          <a:effectLst/>
                        </a:rPr>
                        <a:t>Test Item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1" i="0" dirty="0" err="1">
                          <a:solidFill>
                            <a:srgbClr val="0F172A"/>
                          </a:solidFill>
                          <a:effectLst/>
                        </a:rPr>
                        <a:t>Observation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000" b="1" i="0" dirty="0">
                          <a:solidFill>
                            <a:srgbClr val="0F172A"/>
                          </a:solidFill>
                          <a:effectLst/>
                        </a:rPr>
                        <a:t>Results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4011239"/>
                  </a:ext>
                </a:extLst>
              </a:tr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send</a:t>
                      </a: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 </a:t>
                      </a: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command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000" b="0" i="0" dirty="0">
                          <a:solidFill>
                            <a:srgbClr val="475569"/>
                          </a:solidFill>
                          <a:effectLst/>
                        </a:rPr>
                        <a:t>Accepted in full by Mega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000" b="0" i="0" dirty="0">
                          <a:solidFill>
                            <a:srgbClr val="475569"/>
                          </a:solidFill>
                          <a:effectLst/>
                        </a:rPr>
                        <a:t>successful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1118729"/>
                  </a:ext>
                </a:extLst>
              </a:tr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000" b="0" i="0" dirty="0">
                          <a:solidFill>
                            <a:srgbClr val="475569"/>
                          </a:solidFill>
                          <a:effectLst/>
                        </a:rPr>
                        <a:t>Send Status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Real-</a:t>
                      </a: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time</a:t>
                      </a: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 </a:t>
                      </a: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updates</a:t>
                      </a: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 (500ms)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successful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691730"/>
                  </a:ext>
                </a:extLst>
              </a:tr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Stability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No</a:t>
                      </a: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 </a:t>
                      </a: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corrupt</a:t>
                      </a: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 data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000" b="0" i="0" dirty="0">
                          <a:solidFill>
                            <a:srgbClr val="475569"/>
                          </a:solidFill>
                          <a:effectLst/>
                        </a:rPr>
                        <a:t>STABLE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363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394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AAE83-DFF7-F86F-D9F4-E1B38BDC2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D2E324B-9DB9-02C8-FE9B-18FC978E9255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669F70A2-159B-B127-D298-16B522372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158DB0A6-7777-C4F9-DC24-C2E148273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239C65C9-C850-2356-EA09-CD0E9D262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50CB3A-F396-F937-0D6B-3927D893FE1B}"/>
              </a:ext>
            </a:extLst>
          </p:cNvPr>
          <p:cNvSpPr txBox="1"/>
          <p:nvPr/>
        </p:nvSpPr>
        <p:spPr>
          <a:xfrm>
            <a:off x="-2971800" y="25527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Synchronization </a:t>
            </a:r>
            <a:r>
              <a:rPr lang="en-US" sz="6000" b="1" i="0" dirty="0">
                <a:solidFill>
                  <a:srgbClr val="0284C7"/>
                </a:solidFill>
                <a:effectLst/>
              </a:rPr>
              <a:t>Test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20B388-68A9-7689-415C-B4FD2EE6ABA5}"/>
              </a:ext>
            </a:extLst>
          </p:cNvPr>
          <p:cNvSpPr txBox="1"/>
          <p:nvPr/>
        </p:nvSpPr>
        <p:spPr>
          <a:xfrm>
            <a:off x="152400" y="5464075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OPEN_TOGETHER mode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Motor 1 runs -&gt; Pause 1300ms -&gt; Motor 2 runs.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0B5D4-D761-40C8-E16A-6A3060A768CE}"/>
              </a:ext>
            </a:extLst>
          </p:cNvPr>
          <p:cNvSpPr txBox="1"/>
          <p:nvPr/>
        </p:nvSpPr>
        <p:spPr>
          <a:xfrm>
            <a:off x="8534400" y="5432377"/>
            <a:ext cx="1090246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CLOSE_TOGETHER mode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Motor 2 </a:t>
            </a:r>
            <a:r>
              <a:rPr lang="sv-SE" sz="2999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runs</a:t>
            </a:r>
            <a:r>
              <a:rPr kumimoji="0" lang="sv-SE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-&gt; </a:t>
            </a:r>
            <a:r>
              <a:rPr lang="sv-SE" sz="2999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pause</a:t>
            </a:r>
            <a:r>
              <a:rPr kumimoji="0" lang="sv-SE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1300ms -&gt; Motor 1 .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1CB318-8BA5-1C9E-7719-20771ED32948}"/>
              </a:ext>
            </a:extLst>
          </p:cNvPr>
          <p:cNvSpPr txBox="1"/>
          <p:nvPr/>
        </p:nvSpPr>
        <p:spPr>
          <a:xfrm>
            <a:off x="4991100" y="8482010"/>
            <a:ext cx="7086600" cy="54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lvl="1">
              <a:lnSpc>
                <a:spcPts val="3599"/>
              </a:lnSpc>
              <a:defRPr/>
            </a:pPr>
            <a:r>
              <a:rPr lang="en-US" sz="2999" b="1" dirty="0">
                <a:solidFill>
                  <a:srgbClr val="1F497D">
                    <a:lumMod val="20000"/>
                    <a:lumOff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Precision timing is executed by </a:t>
            </a:r>
            <a:r>
              <a:rPr lang="en-US" sz="2999" b="1" dirty="0" err="1">
                <a:solidFill>
                  <a:srgbClr val="1F497D">
                    <a:lumMod val="20000"/>
                    <a:lumOff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millis</a:t>
            </a:r>
            <a:r>
              <a:rPr lang="en-US" sz="2999" b="1" dirty="0">
                <a:solidFill>
                  <a:srgbClr val="1F497D">
                    <a:lumMod val="20000"/>
                    <a:lumOff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().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733588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ADE27-1628-6DF4-FBED-5FDA932DB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2F9B05-42CA-7499-0F4B-199336040521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2DCD276B-143C-5BAA-A4D9-C660460CC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333050B3-C060-E8DF-1020-01458497F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67EEAE0E-75B4-C3A6-7C02-47E6B2093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665632-A198-4767-AD78-C06217B383E1}"/>
              </a:ext>
            </a:extLst>
          </p:cNvPr>
          <p:cNvSpPr txBox="1"/>
          <p:nvPr/>
        </p:nvSpPr>
        <p:spPr>
          <a:xfrm>
            <a:off x="4716859" y="1718187"/>
            <a:ext cx="88542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Synchronization Test Video</a:t>
            </a:r>
            <a:endParaRPr lang="id-ID" sz="6000" dirty="0">
              <a:effectLst/>
            </a:endParaRPr>
          </a:p>
        </p:txBody>
      </p:sp>
      <p:pic>
        <p:nvPicPr>
          <p:cNvPr id="3" name="WhatsApp Video 2025-11-28 at 08.20.18_b777f8ea">
            <a:hlinkClick r:id="" action="ppaction://media"/>
            <a:extLst>
              <a:ext uri="{FF2B5EF4-FFF2-40B4-BE49-F238E27FC236}">
                <a16:creationId xmlns:a16="http://schemas.microsoft.com/office/drawing/2014/main" id="{F2CBF111-2D1B-8743-636F-6AD4901CB25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28319" y="3143914"/>
            <a:ext cx="9631362" cy="542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9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62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A8559-437C-E06B-B9AC-24C3DFD3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E3BD95-F12F-87D0-AC61-DD5BC1363A82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B8261204-B23B-5CF8-1594-C648E6842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9816DC19-5785-4495-C5E5-F921C70AC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95519914-5693-2B0A-6C7C-4E51AB60A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158992-E0FE-334A-23A9-5DE0E512CDAA}"/>
              </a:ext>
            </a:extLst>
          </p:cNvPr>
          <p:cNvSpPr txBox="1"/>
          <p:nvPr/>
        </p:nvSpPr>
        <p:spPr>
          <a:xfrm>
            <a:off x="-2693377" y="27051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 err="1">
                <a:solidFill>
                  <a:schemeClr val="bg1"/>
                </a:solidFill>
              </a:rPr>
              <a:t>WebUI</a:t>
            </a:r>
            <a:r>
              <a:rPr lang="en-US" sz="6000" b="1" dirty="0">
                <a:solidFill>
                  <a:schemeClr val="bg1"/>
                </a:solidFill>
              </a:rPr>
              <a:t> Latency </a:t>
            </a:r>
            <a:r>
              <a:rPr lang="en-US" sz="6000" b="1" i="0" dirty="0">
                <a:solidFill>
                  <a:srgbClr val="0284C7"/>
                </a:solidFill>
                <a:effectLst/>
              </a:rPr>
              <a:t>Test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F235F-B02B-7A4C-B922-098BA07928C1}"/>
              </a:ext>
            </a:extLst>
          </p:cNvPr>
          <p:cNvSpPr txBox="1"/>
          <p:nvPr/>
        </p:nvSpPr>
        <p:spPr>
          <a:xfrm>
            <a:off x="8194431" y="5387431"/>
            <a:ext cx="10058400" cy="1467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Findings</a:t>
            </a:r>
          </a:p>
          <a:p>
            <a:pPr marL="323847" lvl="1">
              <a:lnSpc>
                <a:spcPts val="3599"/>
              </a:lnSpc>
              <a:defRPr/>
            </a:pP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There is a slight visual lag if the log data is too long, but it does not interfere with control functions.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237E5-403B-09AA-F318-8E52ABC6F6B7}"/>
              </a:ext>
            </a:extLst>
          </p:cNvPr>
          <p:cNvSpPr txBox="1"/>
          <p:nvPr/>
        </p:nvSpPr>
        <p:spPr>
          <a:xfrm>
            <a:off x="-152400" y="5164015"/>
            <a:ext cx="8686800" cy="1911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Respon</a:t>
            </a:r>
            <a:r>
              <a:rPr lang="en-US" sz="2999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Time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999" b="1" dirty="0">
              <a:solidFill>
                <a:srgbClr val="4F81BD">
                  <a:lumMod val="40000"/>
                  <a:lumOff val="60000"/>
                </a:srgbClr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6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150 – 300 ms</a:t>
            </a:r>
          </a:p>
          <a:p>
            <a:pPr marL="323847" lvl="1">
              <a:lnSpc>
                <a:spcPts val="3599"/>
              </a:lnSpc>
              <a:defRPr/>
            </a:pPr>
            <a:r>
              <a:rPr lang="en-US" sz="25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Average time from button click to motor movement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3407242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E790C-20AF-09DB-172B-E9EA69504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09C320-729F-AD77-F9ED-F79DDA588DDC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6509D454-4132-3363-B542-0AD459C1A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B25213CD-AF8B-04D5-10C8-F1E6AD0F4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125F87EE-4016-A4A6-583D-B80E5D20E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5B61A8-7FE8-13A1-82EE-5751A17417A7}"/>
              </a:ext>
            </a:extLst>
          </p:cNvPr>
          <p:cNvSpPr txBox="1"/>
          <p:nvPr/>
        </p:nvSpPr>
        <p:spPr>
          <a:xfrm>
            <a:off x="-2693377" y="27051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System </a:t>
            </a:r>
            <a:r>
              <a:rPr lang="en-US" sz="6000" b="1" dirty="0">
                <a:solidFill>
                  <a:srgbClr val="0284C7"/>
                </a:solidFill>
              </a:rPr>
              <a:t>Analysis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AE8518-EC43-75D5-1A98-B14443887E32}"/>
              </a:ext>
            </a:extLst>
          </p:cNvPr>
          <p:cNvSpPr txBox="1"/>
          <p:nvPr/>
        </p:nvSpPr>
        <p:spPr>
          <a:xfrm>
            <a:off x="8194431" y="5387431"/>
            <a:ext cx="7959969" cy="1460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Integration</a:t>
            </a:r>
          </a:p>
          <a:p>
            <a:pPr marL="323847" lvl="1" algn="just">
              <a:lnSpc>
                <a:spcPts val="3599"/>
              </a:lnSpc>
              <a:defRPr/>
            </a:pPr>
            <a:r>
              <a:rPr lang="en-US" sz="28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ATMega2560 and ESP32 work harmoniously to connect physical hardware and the web.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FCB6F-A51B-0747-42F2-A75DE44FB959}"/>
              </a:ext>
            </a:extLst>
          </p:cNvPr>
          <p:cNvSpPr txBox="1"/>
          <p:nvPr/>
        </p:nvSpPr>
        <p:spPr>
          <a:xfrm>
            <a:off x="0" y="5387431"/>
            <a:ext cx="7959968" cy="1460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Reliability</a:t>
            </a:r>
          </a:p>
          <a:p>
            <a:pPr marL="323847" lvl="1">
              <a:lnSpc>
                <a:spcPts val="3599"/>
              </a:lnSpc>
              <a:defRPr/>
            </a:pPr>
            <a:r>
              <a:rPr lang="en-US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The system is stable in long-term </a:t>
            </a:r>
            <a:r>
              <a:rPr lang="en-US" sz="2800" b="1" dirty="0" err="1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testing.No</a:t>
            </a:r>
            <a:r>
              <a:rPr lang="en-US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 crashes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1498739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C271-29A0-0935-B356-4F104848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DD2347-65F0-316F-CA01-31521E319633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D9ECD6DF-B68C-A951-D142-9A73DBDB2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F875E5E1-621A-D866-B978-BCDB89E4B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64B38650-0E11-8C43-F337-EA159231F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C8AE53-CBAB-8449-F125-67548CE962CE}"/>
              </a:ext>
            </a:extLst>
          </p:cNvPr>
          <p:cNvSpPr txBox="1"/>
          <p:nvPr/>
        </p:nvSpPr>
        <p:spPr>
          <a:xfrm>
            <a:off x="-2693377" y="27051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dirty="0">
                <a:solidFill>
                  <a:schemeClr val="bg1"/>
                </a:solidFill>
              </a:rPr>
              <a:t>System </a:t>
            </a:r>
            <a:r>
              <a:rPr lang="en-US" sz="6000" b="1" dirty="0">
                <a:solidFill>
                  <a:srgbClr val="0284C7"/>
                </a:solidFill>
              </a:rPr>
              <a:t>Conclusion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1F166-E448-6699-C4DC-AC2C06F9EE4D}"/>
              </a:ext>
            </a:extLst>
          </p:cNvPr>
          <p:cNvSpPr txBox="1"/>
          <p:nvPr/>
        </p:nvSpPr>
        <p:spPr>
          <a:xfrm>
            <a:off x="1184031" y="4827844"/>
            <a:ext cx="14097000" cy="3244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lvl="1">
              <a:lnSpc>
                <a:spcPct val="150000"/>
              </a:lnSpc>
              <a:defRPr/>
            </a:pPr>
            <a:r>
              <a:rPr lang="en-US" sz="35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Succesful</a:t>
            </a:r>
            <a:r>
              <a:rPr lang="en-US" sz="35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 Control      : </a:t>
            </a:r>
            <a:r>
              <a:rPr lang="en-US" sz="28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Dual automatic door system is functional and precise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Effective Protection   : </a:t>
            </a:r>
            <a:r>
              <a:rPr lang="en-US" sz="28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Optocoupler &amp; Limit Switch successfully protect hardware</a:t>
            </a:r>
            <a:endParaRPr lang="sv-SE" sz="2800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lvl="1">
              <a:lnSpc>
                <a:spcPct val="150000"/>
              </a:lnSpc>
              <a:defRPr/>
            </a:pP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IoT Running 		: </a:t>
            </a:r>
            <a:r>
              <a:rPr lang="en-US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ESP32 Web Server is stable for real-time monitoring</a:t>
            </a:r>
            <a:endParaRPr lang="sv-SE" sz="2800" b="1" dirty="0">
              <a:solidFill>
                <a:prstClr val="white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lvl="1">
              <a:lnSpc>
                <a:spcPct val="150000"/>
              </a:lnSpc>
              <a:defRPr/>
            </a:pP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Ready to Use	       : </a:t>
            </a:r>
            <a:r>
              <a:rPr lang="en-US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Suitable for use as a docking station prototype</a:t>
            </a:r>
            <a:endParaRPr lang="sv-SE" sz="2800" b="1" dirty="0">
              <a:solidFill>
                <a:prstClr val="white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2024069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364C6-9EAF-CE21-C986-62805B457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8FA3030-195B-7A13-BA3F-26DB4E140ED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B0A01CA1-9736-665D-711F-20B63254D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5CDEAD5F-D661-55DF-5D9C-C2F2C8B2B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0923BC26-9307-4C4C-71C9-92AF0458F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935FF6-0DA2-BBC8-92DC-71AD2C83AC5E}"/>
              </a:ext>
            </a:extLst>
          </p:cNvPr>
          <p:cNvSpPr txBox="1"/>
          <p:nvPr/>
        </p:nvSpPr>
        <p:spPr>
          <a:xfrm>
            <a:off x="-1066800" y="2543535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Development </a:t>
            </a:r>
            <a:r>
              <a:rPr lang="en-US" sz="6000" b="1" dirty="0">
                <a:solidFill>
                  <a:srgbClr val="0284C7"/>
                </a:solidFill>
              </a:rPr>
              <a:t>Recommendations</a:t>
            </a:r>
            <a:endParaRPr lang="id-ID" sz="6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AB0E42-6598-85A7-17DA-9A5AEDE7E654}"/>
              </a:ext>
            </a:extLst>
          </p:cNvPr>
          <p:cNvSpPr txBox="1"/>
          <p:nvPr/>
        </p:nvSpPr>
        <p:spPr>
          <a:xfrm>
            <a:off x="304800" y="4043121"/>
            <a:ext cx="12077700" cy="279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Upgrade Server</a:t>
            </a:r>
          </a:p>
          <a:p>
            <a:pPr marL="323847" lvl="1" algn="just">
              <a:lnSpc>
                <a:spcPct val="150000"/>
              </a:lnSpc>
              <a:defRPr/>
            </a:pP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Using the SIM800L and SIM7600 modules, automatic door systems can be controlled and monitored via a mobile application anytime, anywhere.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FCB9F-8DFA-900A-A7AC-DFD882B76487}"/>
              </a:ext>
            </a:extLst>
          </p:cNvPr>
          <p:cNvSpPr txBox="1"/>
          <p:nvPr/>
        </p:nvSpPr>
        <p:spPr>
          <a:xfrm>
            <a:off x="304800" y="6965996"/>
            <a:ext cx="12077700" cy="1178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Encoder Motor</a:t>
            </a:r>
          </a:p>
          <a:p>
            <a:pPr marL="323847" lvl="1" algn="just">
              <a:lnSpc>
                <a:spcPct val="150000"/>
              </a:lnSpc>
              <a:defRPr/>
            </a:pPr>
            <a:r>
              <a:rPr lang="en-US" sz="2999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Add an encoder to the Closed-Loop system for absolute positioning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752015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98371-4331-A644-C3FD-C73DA7465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435C3A-6A51-9235-333F-F26F93E0950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A0A6CC17-EE43-EE11-7C6F-76E9D4222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3DC30C7B-8B57-BA66-F28D-7C1DB209A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026DA60B-EBA5-8770-D8B9-958E1C6BD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7DF905-B146-3D9F-7DDF-5B4FED276A01}"/>
              </a:ext>
            </a:extLst>
          </p:cNvPr>
          <p:cNvSpPr txBox="1"/>
          <p:nvPr/>
        </p:nvSpPr>
        <p:spPr>
          <a:xfrm>
            <a:off x="-1219200" y="2305341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Optimization </a:t>
            </a:r>
            <a:r>
              <a:rPr lang="en-US" sz="6000" b="1" dirty="0">
                <a:solidFill>
                  <a:srgbClr val="0284C7"/>
                </a:solidFill>
              </a:rPr>
              <a:t>Recommendations</a:t>
            </a:r>
            <a:endParaRPr lang="id-ID" sz="6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8F4C6D-9023-FEA4-53CD-D70D56E8BD77}"/>
              </a:ext>
            </a:extLst>
          </p:cNvPr>
          <p:cNvSpPr txBox="1"/>
          <p:nvPr/>
        </p:nvSpPr>
        <p:spPr>
          <a:xfrm>
            <a:off x="304800" y="4650590"/>
            <a:ext cx="10058400" cy="1467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Protocol MQTT</a:t>
            </a:r>
          </a:p>
          <a:p>
            <a:pPr marL="323847" lvl="1">
              <a:lnSpc>
                <a:spcPts val="3599"/>
              </a:lnSpc>
              <a:defRPr/>
            </a:pP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Implementation of Cloud IoT for remote access via the Internet.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25855-FC6C-D96F-EFAA-8558AAE6BC0B}"/>
              </a:ext>
            </a:extLst>
          </p:cNvPr>
          <p:cNvSpPr txBox="1"/>
          <p:nvPr/>
        </p:nvSpPr>
        <p:spPr>
          <a:xfrm>
            <a:off x="304800" y="6965996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Watchdog Timer</a:t>
            </a:r>
          </a:p>
          <a:p>
            <a:pPr marL="323847" lvl="1">
              <a:lnSpc>
                <a:spcPts val="3599"/>
              </a:lnSpc>
              <a:defRPr/>
            </a:pPr>
            <a:r>
              <a:rPr lang="en-US" sz="2999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Enable watchdog for auto-restart if the system freezes.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2441885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296DC-3CEB-3A89-2A4B-0C13E3AA3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4B7B4DF-8893-1C5C-A649-6D2A5499C71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EAF3E81E-1843-C253-CFC7-0BF412B2B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AA00E2A1-16C8-B1D5-F3B2-4A36E71A5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94CC957F-B88D-67A4-9CDF-3DE8736F5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A59851-8CF4-E73B-3174-911CAA5E434F}"/>
              </a:ext>
            </a:extLst>
          </p:cNvPr>
          <p:cNvSpPr txBox="1"/>
          <p:nvPr/>
        </p:nvSpPr>
        <p:spPr>
          <a:xfrm>
            <a:off x="2095500" y="3820061"/>
            <a:ext cx="14097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8000" b="1" dirty="0">
                <a:solidFill>
                  <a:schemeClr val="bg1"/>
                </a:solidFill>
              </a:rPr>
              <a:t>Thank You</a:t>
            </a:r>
            <a:endParaRPr lang="id-ID" sz="80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6E503-56B7-20FD-1770-C00A4EA57A69}"/>
              </a:ext>
            </a:extLst>
          </p:cNvPr>
          <p:cNvSpPr txBox="1"/>
          <p:nvPr/>
        </p:nvSpPr>
        <p:spPr>
          <a:xfrm>
            <a:off x="6229350" y="6348295"/>
            <a:ext cx="5829300" cy="56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YANUARDI – 221344031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13523C-B854-5F33-34A5-A7F44CC00C6A}"/>
              </a:ext>
            </a:extLst>
          </p:cNvPr>
          <p:cNvCxnSpPr/>
          <p:nvPr/>
        </p:nvCxnSpPr>
        <p:spPr>
          <a:xfrm>
            <a:off x="304800" y="6210300"/>
            <a:ext cx="17678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773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900</Words>
  <Application>Microsoft Office PowerPoint</Application>
  <PresentationFormat>Custom</PresentationFormat>
  <Paragraphs>139</Paragraphs>
  <Slides>24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 MT Pro</vt:lpstr>
      <vt:lpstr>Arial MT Pro Bold</vt:lpstr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PPT Seminar KP - Telkom 2024.pptx</dc:title>
  <dc:creator>Yanuardi</dc:creator>
  <cp:lastModifiedBy>YANUARDI</cp:lastModifiedBy>
  <cp:revision>6</cp:revision>
  <dcterms:created xsi:type="dcterms:W3CDTF">2006-08-16T00:00:00Z</dcterms:created>
  <dcterms:modified xsi:type="dcterms:W3CDTF">2025-11-30T05:57:47Z</dcterms:modified>
  <dc:identifier>DAGSmakPTco</dc:identifier>
</cp:coreProperties>
</file>