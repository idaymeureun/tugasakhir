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0" r:id="rId17"/>
    <p:sldId id="281" r:id="rId18"/>
    <p:sldId id="285" r:id="rId19"/>
    <p:sldId id="282" r:id="rId20"/>
    <p:sldId id="283" r:id="rId21"/>
    <p:sldId id="284" r:id="rId22"/>
    <p:sldId id="278" r:id="rId23"/>
    <p:sldId id="279" r:id="rId24"/>
    <p:sldId id="286" r:id="rId25"/>
  </p:sldIdLst>
  <p:sldSz cx="18288000" cy="10287000"/>
  <p:notesSz cx="6858000" cy="9144000"/>
  <p:embeddedFontLst>
    <p:embeddedFont>
      <p:font typeface="Arial MT Pro" panose="020B0604020202020204" charset="0"/>
      <p:regular r:id="rId27"/>
    </p:embeddedFont>
    <p:embeddedFont>
      <p:font typeface="Arial MT Pro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F878C-3E2D-47FD-802D-83A935246873}" type="datetimeFigureOut">
              <a:rPr lang="id-ID" smtClean="0"/>
              <a:t>30/11/2025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1299D-89B1-40F0-A52B-A06781FC8A5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508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238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E46F-4237-698B-E8EC-57E84099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1B4A6-9907-7F3A-E322-12DD541F2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CEDE4-B579-225A-90AC-F43BEBA8C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E8FF9-77BD-2886-701E-BE24899C1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183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DDD5-CE2B-5066-AED6-02F9E077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EB28-9268-61E8-CE8F-B8CCC43D5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2FAA8-2949-D68C-FE46-E658C6DC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34D6-62F3-A455-3DD1-44EE2B69D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2488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133B-9BA5-DAF9-E17F-17221FB0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1ED15-BB5F-E155-E040-36087B07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883F7-2998-CC2E-3CB0-94300A50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BA0-BDD4-B52B-3635-2760B43D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4946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F07-27A0-5743-60EA-39A094BC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8C734-33C0-7E5A-BF1E-28940FCDC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B4E9-3DEC-49A4-03A9-EA7CAA31D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0F2E9-B858-A0F5-D4B4-F5B68625B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693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5F3F-2A4C-BD91-B1A6-0097669D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129FC-1C64-5391-8845-B8001887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1427F-F451-6144-B6B7-1373E04CC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5E8B-8911-D192-2CC7-5EB225AE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7025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FAB4-72DB-DDCF-F9D6-E6D710A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0A91E-5A2C-1B71-EB85-DB4FCF3E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38FBD-0B9C-7E5E-3FD3-89A2E99D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BE78A-5896-664A-DDFB-EF7CF8A4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243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764-A14E-B423-7761-D5F13B4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3871D-6128-CA22-5CA6-E13160471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6F983-86CF-3C51-F64E-DB4111F8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D632-7DBF-CF8B-6B72-21720B26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467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73C-1B35-5080-7B3B-CD448451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8666F-66D5-BC05-D5B8-8DBCFAD99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D5F9-14C9-1E62-9085-28A8CB19A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BCF0-568C-E3D3-7A81-BCAAF984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71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46D2-0E5B-6AB3-1D83-A3CF6F8E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3432-6EF8-D899-E47D-E5E6F3C2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9056F-E47B-AE1A-8D74-C927E3B9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1586-16AA-E2E6-79B4-73CA8B71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043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F295-53A9-1A6B-A855-CDADC6D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094AF-AF77-3029-B88B-F68730641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41D04-FAE4-BB40-30A7-1E0C1590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AB302-BECF-B852-66C4-6B3A5FE23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425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F19C-9197-E4B3-76D8-89656D0C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2283A-87CE-BBDB-1A22-A29E07EDA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38F60-1969-5451-8E1B-0101996A4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08073-03FB-4B84-19B6-DEF0397AF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51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9AF7-0D15-B336-940C-9BCF7A57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B0766-3448-7FBF-943A-C8D76E24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BC16F-1B44-0453-5875-9AF4CC7B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C6D5-C807-2119-EE35-A47A452A0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201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3" name="TextBox 3"/>
          <p:cNvSpPr txBox="1"/>
          <p:nvPr/>
        </p:nvSpPr>
        <p:spPr>
          <a:xfrm>
            <a:off x="3067812" y="2207191"/>
            <a:ext cx="14458188" cy="363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Rancang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Bangun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Sistem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Kontrol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Pintu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Otomatis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Ganda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dengan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Isolasi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Optocoupler dan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Mekanisme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Docking Charging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Berbasis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Arduino Mega dan ESP32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5695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YANUARDI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221344031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:Ir. Hertog Nugroho, M.Sc., Ph.D.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12" y="792481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D4 TEKNIK TELEKOMUNIKASI 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JURUSAN TEKNIK ELEKTRO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POLITEKNIK NEGERI BANDUNG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6781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NAMA               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NIM                     </a:t>
            </a: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PEMBIMBING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0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 &amp; 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7225" y="5870042"/>
            <a:ext cx="3641554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39200" y="3238500"/>
            <a:ext cx="8130874" cy="616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Stasiun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drone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memerlukan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bergerak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Noise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motor torsi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tinggi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berisiko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 IoT: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monitoring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nirkabel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delay.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pengisian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daya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harus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(interlock).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Belakang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&amp; Tujuan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4188" y="5646287"/>
            <a:ext cx="1665116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8772" y="3586401"/>
            <a:ext cx="9867900" cy="54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Mengatur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dua motor stepper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jeda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 : </a:t>
            </a:r>
            <a:r>
              <a:rPr lang="sv-SE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 charging otomatis dengan interlock.</a:t>
            </a:r>
            <a:endParaRPr lang="en-US" sz="3000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&amp; Limit Switch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IoT Monitor : Web server ESP32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076479-5D91-44FA-A24B-A3B237E49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1757"/>
            <a:ext cx="18288000" cy="887951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220" y="1342273"/>
            <a:ext cx="18288000" cy="8944728"/>
          </a:xfrm>
          <a:custGeom>
            <a:avLst/>
            <a:gdLst/>
            <a:ahLst/>
            <a:cxnLst/>
            <a:rect l="l" t="t" r="r" b="b"/>
            <a:pathLst>
              <a:path w="18288000" h="10201275">
                <a:moveTo>
                  <a:pt x="0" y="0"/>
                </a:moveTo>
                <a:lnTo>
                  <a:pt x="18288000" y="0"/>
                </a:lnTo>
                <a:lnTo>
                  <a:pt x="18288000" y="10201275"/>
                </a:lnTo>
                <a:lnTo>
                  <a:pt x="0" y="1020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6000"/>
            </a:blip>
            <a:stretch>
              <a:fillRect t="-17226" b="-17226"/>
            </a:stretch>
          </a:blipFill>
          <a:effectLst>
            <a:outerShdw dist="50800" dir="5400000" algn="ctr" rotWithShape="0">
              <a:schemeClr val="tx1">
                <a:alpha val="0"/>
              </a:scheme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6" name="TextBox 6"/>
          <p:cNvSpPr txBox="1"/>
          <p:nvPr/>
        </p:nvSpPr>
        <p:spPr>
          <a:xfrm>
            <a:off x="1481328" y="1876962"/>
            <a:ext cx="15325344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dan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68323" y="3083512"/>
            <a:ext cx="10859312" cy="22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kerja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praktek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dilaksanakan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pada:</a:t>
            </a:r>
          </a:p>
          <a:p>
            <a:pPr algn="l">
              <a:lnSpc>
                <a:spcPts val="3599"/>
              </a:lnSpc>
            </a:pPr>
            <a:endParaRPr lang="en-US" sz="2999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Tanggal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: 01 Juli 2025 s/d. 02 Januari 2026</a:t>
            </a:r>
          </a:p>
          <a:p>
            <a:pPr algn="l">
              <a:lnSpc>
                <a:spcPts val="3599"/>
              </a:lnSpc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            : 08.00 – 17.30 WIB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 : PT. Solusi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Indonesia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14047" y="8977299"/>
            <a:ext cx="3472025" cy="50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Lokasi Perusahaan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0502" y="5789614"/>
            <a:ext cx="7441563" cy="183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 Workshop 08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yang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berlokasi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Raya No.8, RT.004/RW.011,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Jatimekar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Kec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Jatiasih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Kota Bks, Jawa Barat 17422.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A66A7-8B23-0ADD-F35C-E5E0B0444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649" y="5789614"/>
            <a:ext cx="3734423" cy="2671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3" name="TextBox 3"/>
          <p:cNvSpPr txBox="1"/>
          <p:nvPr/>
        </p:nvSpPr>
        <p:spPr>
          <a:xfrm>
            <a:off x="1481328" y="5376536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 TEORI &amp; PELAKSANAAN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19488-C381-D842-1161-50598B08E76A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Controller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CB0915-B028-E42C-A5BD-5863745FD80F}"/>
              </a:ext>
            </a:extLst>
          </p:cNvPr>
          <p:cNvSpPr txBox="1"/>
          <p:nvPr/>
        </p:nvSpPr>
        <p:spPr>
          <a:xfrm>
            <a:off x="304800" y="3709142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marR="0" lvl="1" indent="-323848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Arduino Mega 2560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Unit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utama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Dipilih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karena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54 Pin I/O dan 4 UART Hardware.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Menangani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logika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dan sensor.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SP32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Modul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WiFi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sebagai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mandiri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mengirim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Mega via Serial.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8A7E7B-0991-1016-D6FC-B86EE4A97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73DF7E09-8B85-4E1B-B5EE-D65C8D3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DE39D7A-F214-E473-A0A5-98C65AD8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2" name="Picture 5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6149EB7-752C-0325-5B9E-CF7C9113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771900"/>
            <a:ext cx="7319118" cy="4648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6D6-9907-87EF-E29D-4DA00764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855234-7477-FF19-C18C-68B48A7E33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36074-D163-A649-FCA9-42955F5376B0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Aktuator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483207-B54E-D306-1F6F-E3C64C36D1CE}"/>
              </a:ext>
            </a:extLst>
          </p:cNvPr>
          <p:cNvSpPr txBox="1"/>
          <p:nvPr/>
        </p:nvSpPr>
        <p:spPr>
          <a:xfrm>
            <a:off x="341671" y="3802442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1. Motor Stepper HUIYINN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Torsi holding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menahan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Gerakan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per step (1.8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derajat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)..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Driver TB6600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Penguat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(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hingga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4A)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fitur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pergerakan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sangat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4602A4F-D318-033B-CBB3-91F253C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6CA70276-2F7D-7CC7-010E-3AF4A39F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F90E630-6485-4429-F6CB-5976574C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4" name="Picture 3" descr="A close-up of a microstep driver&#10;&#10;AI-generated content may be incorrect.">
            <a:extLst>
              <a:ext uri="{FF2B5EF4-FFF2-40B4-BE49-F238E27FC236}">
                <a16:creationId xmlns:a16="http://schemas.microsoft.com/office/drawing/2014/main" id="{F9025E00-ABEC-28E4-6311-6537990CB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3802442"/>
            <a:ext cx="7152943" cy="454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865D-6A28-68BD-8132-F7962C4E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3A15FF-E1B8-1575-79DF-C307E894F9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C4FB3-9B15-8BBA-C9E8-D75F8C1173C3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Proteksi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802A18-5A19-D356-0122-5AB58AEA79C0}"/>
              </a:ext>
            </a:extLst>
          </p:cNvPr>
          <p:cNvSpPr txBox="1"/>
          <p:nvPr/>
        </p:nvSpPr>
        <p:spPr>
          <a:xfrm>
            <a:off x="304800" y="3695700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PC817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Mengisolasi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5V Arduino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30V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kerusakan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Back-EMF.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Sensor batas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mekanis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(NO)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mendeteksi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posisi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akhir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menghentikan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1D8F150-AC7C-2700-0F01-F2CF2379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C8209ED0-CF43-48CB-3F38-6837042B5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9B56892-CADE-8097-1D64-1F01577C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" name="Picture 4" descr="A close-up of a device&#10;&#10;AI-generated content may be incorrect.">
            <a:extLst>
              <a:ext uri="{FF2B5EF4-FFF2-40B4-BE49-F238E27FC236}">
                <a16:creationId xmlns:a16="http://schemas.microsoft.com/office/drawing/2014/main" id="{38D02619-009B-6C09-31D6-65B0BF7AF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579" y="4093908"/>
            <a:ext cx="6961918" cy="44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5CA4-C364-11EC-23FC-16809152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42990B-33FF-314B-B6F1-CDD37F437A8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A5C1F-671B-6302-0A95-8DFEF297DCB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Logika </a:t>
            </a:r>
            <a:r>
              <a:rPr lang="en-US" sz="6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Kontrol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D03A7C-A032-B60F-8267-E9CABA621BBC}"/>
              </a:ext>
            </a:extLst>
          </p:cNvPr>
          <p:cNvSpPr txBox="1"/>
          <p:nvPr/>
        </p:nvSpPr>
        <p:spPr>
          <a:xfrm>
            <a:off x="304800" y="4415915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Non-Blocking (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Memungkinkan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multitasking: motor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bergerak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sambil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membaca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sensor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jeda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'delay()’.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Async Web Server</a:t>
            </a: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Library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ESPAsyncWebServer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menangani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request HTTP di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latar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belakang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memblokir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EBFD81C-A7DF-16F3-12F8-FDF4EF4E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E7C3CE8-CA83-6902-DEA4-2B31DD71F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F72553A-F8A0-EFE3-AAD7-725B9BE39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979C7-09B0-7E36-FA65-211D386D49E2}"/>
              </a:ext>
            </a:extLst>
          </p:cNvPr>
          <p:cNvSpPr/>
          <p:nvPr/>
        </p:nvSpPr>
        <p:spPr>
          <a:xfrm>
            <a:off x="10210800" y="1479303"/>
            <a:ext cx="6172200" cy="86552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D10FB-7AB8-E183-B84F-5E8AC76F30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646357"/>
            <a:ext cx="5105400" cy="84735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68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7A3F-D44B-C928-557B-FE04B39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1E321B-D1D2-B7B4-5508-52AEB0ADCE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35308B-EEC5-634B-20CC-3185F8B48A8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Perakitan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Hardware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B71958-1876-5356-3599-34B56360E589}"/>
              </a:ext>
            </a:extLst>
          </p:cNvPr>
          <p:cNvSpPr txBox="1"/>
          <p:nvPr/>
        </p:nvSpPr>
        <p:spPr>
          <a:xfrm>
            <a:off x="594606" y="3238500"/>
            <a:ext cx="9144000" cy="62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Persiapan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Menyiapkan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Mega, ESP32, Driver TB6600, dan Power Supply 30V.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2. PCB Prototype : 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Menyolder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dan terminal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blok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kokoh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3. Wiring :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Menghubungkan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(Mega)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(ESP32).</a:t>
            </a:r>
          </a:p>
          <a:p>
            <a:pPr marL="323847" lvl="1">
              <a:lnSpc>
                <a:spcPct val="150000"/>
              </a:lnSpc>
              <a:defRPr/>
            </a:pP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3D2ABC2E-0345-BE15-E9A9-D06A09EC6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DA863707-F81D-25F7-D454-6CFA7385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8B9E193-8FA2-E921-BBFD-709BBFEB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3" name="Picture 12" descr="A close-up of a computer&#10;&#10;AI-generated content may be incorrect.">
            <a:extLst>
              <a:ext uri="{FF2B5EF4-FFF2-40B4-BE49-F238E27FC236}">
                <a16:creationId xmlns:a16="http://schemas.microsoft.com/office/drawing/2014/main" id="{D6465DDA-D8BE-6EE1-74C8-6FA4E44E7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4241" y="2723259"/>
            <a:ext cx="4920247" cy="65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B31C-A1FA-0E97-F632-BB61DAC2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9F14F9-47C4-8FD5-ADDA-3D5A6A40C1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15E4A-B030-2D95-2B0A-CAB5A0D2C66F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Pemrograman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&amp; UI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3F1F70-145A-D32B-D9BB-A57C7E3F354F}"/>
              </a:ext>
            </a:extLst>
          </p:cNvPr>
          <p:cNvSpPr txBox="1"/>
          <p:nvPr/>
        </p:nvSpPr>
        <p:spPr>
          <a:xfrm>
            <a:off x="463831" y="3652912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Firmware Mega: Program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logika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motor dan interlock sensor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Web ESP32: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Membuat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antarmuka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HTML/CSS/JS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tersimpan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memori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program.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Serial Data: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Protokol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pengiriman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status real-time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Mega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Web.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CAB2CE8-BEB6-A125-8C68-AA1285B13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31D3ACD-AAE9-1060-9E9F-CECC22D8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0AECCAE-854D-CF4A-535F-1998F928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1D8F1-2587-6541-F3E4-DCA7FAE59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434" y="2578552"/>
            <a:ext cx="3015933" cy="649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9F7B1E7-9425-0E6B-EDBD-B08231DF5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5197" y="2823291"/>
            <a:ext cx="3888972" cy="557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8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E012-FC37-9A16-A7A3-5EE44BAA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17403-8906-B1EE-950E-59642DF3D3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7E16B0D4-7827-4D1E-C3C4-3088D6CD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49F148E4-6F29-4056-0C1C-EA3463AD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C352C9F-AE4C-7CC0-02F8-3B26E1B8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AE8F3-DF32-B976-452E-ADA73E6239ED}"/>
              </a:ext>
            </a:extLst>
          </p:cNvPr>
          <p:cNvSpPr txBox="1"/>
          <p:nvPr/>
        </p:nvSpPr>
        <p:spPr>
          <a:xfrm>
            <a:off x="2095500" y="4481780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8000" b="1" i="0" dirty="0">
                <a:solidFill>
                  <a:schemeClr val="bg1"/>
                </a:solidFill>
                <a:effectLst/>
              </a:rPr>
              <a:t>PENGUJIAN &amp; </a:t>
            </a:r>
            <a:r>
              <a:rPr lang="id-ID" sz="8000" b="1" i="0" dirty="0">
                <a:solidFill>
                  <a:srgbClr val="0284C7"/>
                </a:solidFill>
                <a:effectLst/>
              </a:rPr>
              <a:t>ANALISIS</a:t>
            </a:r>
            <a:endParaRPr lang="id-ID" sz="8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0944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F26E-8EE1-E9D2-8257-68689DC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FB518F-A42F-E6B4-8FC4-8455049FED8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6EDD84A-3B1D-68C5-2F06-E810D07A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8F8F964-798F-29B0-1617-B2A4BD52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7211BC-0D28-7336-3A8C-C72EB33C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B2DC6-F824-2168-53F0-233DD9B3F24F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Metodologi</a:t>
            </a:r>
            <a:r>
              <a:rPr lang="id-ID" sz="6000" b="1" i="0" dirty="0">
                <a:solidFill>
                  <a:schemeClr val="bg1"/>
                </a:solidFill>
                <a:effectLst/>
              </a:rPr>
              <a:t> &amp;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Pengujian</a:t>
            </a:r>
            <a:endParaRPr lang="id-ID" sz="6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D3A7-D3F2-9C52-F7CE-32AFFD6F295A}"/>
              </a:ext>
            </a:extLst>
          </p:cNvPr>
          <p:cNvSpPr txBox="1"/>
          <p:nvPr/>
        </p:nvSpPr>
        <p:spPr>
          <a:xfrm>
            <a:off x="990600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Parsial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: Motor, Limit Switch,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BD11D-5A72-6FFD-CC8F-9E5450315740}"/>
              </a:ext>
            </a:extLst>
          </p:cNvPr>
          <p:cNvSpPr txBox="1"/>
          <p:nvPr/>
        </p:nvSpPr>
        <p:spPr>
          <a:xfrm>
            <a:off x="8540262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: UART ESP32 – ATMega2560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71C33-33B0-8C00-CC7E-021A56F1E2EE}"/>
              </a:ext>
            </a:extLst>
          </p:cNvPr>
          <p:cNvSpPr txBox="1"/>
          <p:nvPr/>
        </p:nvSpPr>
        <p:spPr>
          <a:xfrm>
            <a:off x="990600" y="6593868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Fungsional: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&amp; Charging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968D3-B492-D861-B8F3-06EF1F3618E4}"/>
              </a:ext>
            </a:extLst>
          </p:cNvPr>
          <p:cNvSpPr txBox="1"/>
          <p:nvPr/>
        </p:nvSpPr>
        <p:spPr>
          <a:xfrm>
            <a:off x="8540262" y="6593867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IoT: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Latensi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Server.</a:t>
            </a:r>
          </a:p>
        </p:txBody>
      </p:sp>
    </p:spTree>
    <p:extLst>
      <p:ext uri="{BB962C8B-B14F-4D97-AF65-F5344CB8AC3E}">
        <p14:creationId xmlns:p14="http://schemas.microsoft.com/office/powerpoint/2010/main" val="122714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1762-58B8-C7B9-F51B-97E64CF8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7017A0-E7B5-5C14-A520-2958499632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36E97AE-BEA5-FE55-E985-C2F0E96D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224D05C6-E715-1129-3001-1909E7DA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4650FA37-5834-B99A-9011-F5977D82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E9AA7-BB48-D553-D5CF-8153730DB83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Kinerja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>
                <a:solidFill>
                  <a:srgbClr val="0284C7"/>
                </a:solidFill>
              </a:rPr>
              <a:t>Motor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22CF9-0261-1BB4-7B16-5D507D8540E8}"/>
              </a:ext>
            </a:extLst>
          </p:cNvPr>
          <p:cNvSpPr txBox="1"/>
          <p:nvPr/>
        </p:nvSpPr>
        <p:spPr>
          <a:xfrm>
            <a:off x="304800" y="4246487"/>
            <a:ext cx="10058400" cy="283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Hasil &amp; </a:t>
            </a:r>
            <a:r>
              <a:rPr lang="en-US" sz="35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Analisis</a:t>
            </a:r>
            <a:endParaRPr lang="en-US" sz="3500" b="1" dirty="0">
              <a:solidFill>
                <a:schemeClr val="tx2">
                  <a:lumMod val="20000"/>
                  <a:lumOff val="8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BUKA_1/TUTUP_1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direspon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tepat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Gerakan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TB6600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Tidak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ada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‘Step Loss’ pada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normal</a:t>
            </a:r>
          </a:p>
        </p:txBody>
      </p:sp>
    </p:spTree>
    <p:extLst>
      <p:ext uri="{BB962C8B-B14F-4D97-AF65-F5344CB8AC3E}">
        <p14:creationId xmlns:p14="http://schemas.microsoft.com/office/powerpoint/2010/main" val="291085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4621-3564-F5EF-6662-C7AC8BAE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61EE3-718C-CA3D-53E5-818876BEA2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00694C-B6AC-6E16-98FE-0587E915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CB35A65-67C8-42AA-89E0-5336758C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FDE928ED-F4FB-EB47-0AAB-8ED92A71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F2619-3DA8-1DEB-CC5C-A07171C9200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Sistem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Proteksi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5C93B-52F8-5A64-E092-6695A1183D99}"/>
              </a:ext>
            </a:extLst>
          </p:cNvPr>
          <p:cNvSpPr txBox="1"/>
          <p:nvPr/>
        </p:nvSpPr>
        <p:spPr>
          <a:xfrm>
            <a:off x="304800" y="4060494"/>
            <a:ext cx="15163800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berhenti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&lt; 120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setelah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switch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tertekan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 Debounce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baik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bouncing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090C-D10B-2F27-11D4-F07E2C05E35B}"/>
              </a:ext>
            </a:extLst>
          </p:cNvPr>
          <p:cNvSpPr txBox="1"/>
          <p:nvPr/>
        </p:nvSpPr>
        <p:spPr>
          <a:xfrm>
            <a:off x="328246" y="6438025"/>
            <a:ext cx="15140354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Optocoupler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dikirim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sehingga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atau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lonjakan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pernah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bisa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kumimoji="0" lang="en-US" sz="2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415591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890A-B92D-F8A3-F8C7-FDEA3998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6B241C-C377-2791-BA51-3E84090437F9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31F7021-35F0-560D-E606-89805279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AEA9857-8AE4-5CDD-B4D2-50460226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9403063-A991-36A7-D608-A80AE323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9CC5D-3D0E-9541-875E-C308FB902245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Komunikasi</a:t>
            </a:r>
            <a:endParaRPr lang="id-ID" sz="6000" dirty="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E65085-1AF7-C215-BAEF-E3D4D37D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83514"/>
              </p:ext>
            </p:extLst>
          </p:nvPr>
        </p:nvGraphicFramePr>
        <p:xfrm>
          <a:off x="2590800" y="4609904"/>
          <a:ext cx="1310640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>
                  <a:extLst>
                    <a:ext uri="{9D8B030D-6E8A-4147-A177-3AD203B41FA5}">
                      <a16:colId xmlns:a16="http://schemas.microsoft.com/office/drawing/2014/main" val="1722942245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3191568008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905992514"/>
                    </a:ext>
                  </a:extLst>
                </a:gridCol>
              </a:tblGrid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 dirty="0">
                          <a:solidFill>
                            <a:srgbClr val="0F172A"/>
                          </a:solidFill>
                          <a:effectLst/>
                        </a:rPr>
                        <a:t>Item Uji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Observasi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01123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Kirim Perintah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Diterima utuh oleh Mega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11872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Kirim Status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Update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real-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time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(500ms)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691730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Stabilitas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Tidak ada data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corrupt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STABIL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9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AE83-DFF7-F86F-D9F4-E1B38BDC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2E324B-9DB9-02C8-FE9B-18FC978E925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69F70A2-159B-B127-D298-16B52237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58DB0A6-7777-C4F9-DC24-C2E14827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239C65C9-C850-2356-EA09-CD0E9D26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0CB3A-F396-F937-0D6B-3927D893FE1B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0B388-68A9-7689-415C-B4FD2EE6ABA5}"/>
              </a:ext>
            </a:extLst>
          </p:cNvPr>
          <p:cNvSpPr txBox="1"/>
          <p:nvPr/>
        </p:nvSpPr>
        <p:spPr>
          <a:xfrm>
            <a:off x="152400" y="5464075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Mode BUKA_BERSAMA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1 jalan -&gt; Jeda 1300ms -&gt; Motor 2 jalan.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0B5D4-D761-40C8-E16A-6A3060A768CE}"/>
              </a:ext>
            </a:extLst>
          </p:cNvPr>
          <p:cNvSpPr txBox="1"/>
          <p:nvPr/>
        </p:nvSpPr>
        <p:spPr>
          <a:xfrm>
            <a:off x="8534400" y="5432377"/>
            <a:ext cx="1090246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Mode TUTUP_BERSAMA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Motor 2 jalan -&gt; Jeda 1300ms -&gt; Motor 1 jalan.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CB318-8BA5-1C9E-7719-20771ED32948}"/>
              </a:ext>
            </a:extLst>
          </p:cNvPr>
          <p:cNvSpPr txBox="1"/>
          <p:nvPr/>
        </p:nvSpPr>
        <p:spPr>
          <a:xfrm>
            <a:off x="4991100" y="8482010"/>
            <a:ext cx="7086600" cy="5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Timing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Dieksekusi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oleh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b="1" dirty="0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33588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DE27-1628-6DF4-FBED-5FDA932D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F9B05-42CA-7499-0F4B-199336040521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2DCD276B-143C-5BAA-A4D9-C660460C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33050B3-C060-E8DF-1020-01458497F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7EEAE0E-75B4-C3A6-7C02-47E6B209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5632-A198-4767-AD78-C06217B383E1}"/>
              </a:ext>
            </a:extLst>
          </p:cNvPr>
          <p:cNvSpPr txBox="1"/>
          <p:nvPr/>
        </p:nvSpPr>
        <p:spPr>
          <a:xfrm>
            <a:off x="5600700" y="1714500"/>
            <a:ext cx="7086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Video 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pic>
        <p:nvPicPr>
          <p:cNvPr id="3" name="WhatsApp Video 2025-11-28 at 08.20.18_b777f8ea">
            <a:hlinkClick r:id="" action="ppaction://media"/>
            <a:extLst>
              <a:ext uri="{FF2B5EF4-FFF2-40B4-BE49-F238E27FC236}">
                <a16:creationId xmlns:a16="http://schemas.microsoft.com/office/drawing/2014/main" id="{F2CBF111-2D1B-8743-636F-6AD4901CB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8319" y="3143914"/>
            <a:ext cx="9631362" cy="542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8559-437C-E06B-B9AC-24C3DFD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3BD95-F12F-87D0-AC61-DD5BC1363A82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8261204-B23B-5CF8-1594-C648E684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9816DC19-5785-4495-C5E5-F921C70A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5519914-5693-2B0A-6C7C-4E51AB60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58992-E0FE-334A-23A9-5DE0E512CDAA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Latensi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WebUI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F235F-B02B-7A4C-B922-098BA07928C1}"/>
              </a:ext>
            </a:extLst>
          </p:cNvPr>
          <p:cNvSpPr txBox="1"/>
          <p:nvPr/>
        </p:nvSpPr>
        <p:spPr>
          <a:xfrm>
            <a:off x="8194431" y="5387431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Temuan</a:t>
            </a:r>
            <a:endParaRPr lang="en-US" sz="2999" b="1" dirty="0">
              <a:solidFill>
                <a:schemeClr val="accent1">
                  <a:lumMod val="40000"/>
                  <a:lumOff val="6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Terdapat Lag Visual kecil jika log data terlalu panjang namun tidak mengganggu fungsi kontrol.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237E5-403B-09AA-F318-8E52ABC6F6B7}"/>
              </a:ext>
            </a:extLst>
          </p:cNvPr>
          <p:cNvSpPr txBox="1"/>
          <p:nvPr/>
        </p:nvSpPr>
        <p:spPr>
          <a:xfrm>
            <a:off x="-152400" y="5164015"/>
            <a:ext cx="10492154" cy="191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Respon</a:t>
            </a:r>
            <a:r>
              <a:rPr lang="en-US" sz="2999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Time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999" b="1" dirty="0">
              <a:solidFill>
                <a:srgbClr val="4F81BD">
                  <a:lumMod val="40000"/>
                  <a:lumOff val="60000"/>
                </a:srgb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150 – 300 ms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Rata</a:t>
            </a:r>
            <a:r>
              <a:rPr lang="sv-SE" sz="25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-Rata waktu dari klik tombol hingga motor bergerak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3407242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790C-20AF-09DB-172B-E9EA6950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09C320-729F-AD77-F9ED-F79DDA588DDC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509D454-4132-3363-B542-0AD459C1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5213CD-AF8B-04D5-10C8-F1E6AD0F4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125F87EE-4016-A4A6-583D-B80E5D20E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B61A8-7FE8-13A1-82EE-5751A17417A7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 err="1">
                <a:solidFill>
                  <a:schemeClr val="bg1"/>
                </a:solidFill>
              </a:rPr>
              <a:t>Analisis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E8518-EC43-75D5-1A98-B14443887E32}"/>
              </a:ext>
            </a:extLst>
          </p:cNvPr>
          <p:cNvSpPr txBox="1"/>
          <p:nvPr/>
        </p:nvSpPr>
        <p:spPr>
          <a:xfrm>
            <a:off x="8194431" y="5387431"/>
            <a:ext cx="7959969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</a:t>
            </a:r>
          </a:p>
          <a:p>
            <a:pPr marL="323847" marR="0" lvl="1" algn="just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ATMega2560 dan ESP32 bekerja harmonis menhubungkan hardware fisik dan web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FCB6F-A51B-0747-42F2-A75DE44FB959}"/>
              </a:ext>
            </a:extLst>
          </p:cNvPr>
          <p:cNvSpPr txBox="1"/>
          <p:nvPr/>
        </p:nvSpPr>
        <p:spPr>
          <a:xfrm>
            <a:off x="0" y="5387431"/>
            <a:ext cx="7959968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Reabilitas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stabil dalam pengujian jangka panjang.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 ada crash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49873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C271-29A0-0935-B356-4F104848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DD2347-65F0-316F-CA01-31521E31963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D9ECD6DF-B68C-A951-D142-9A73DBDB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875E5E1-621A-D866-B978-BCDB89E4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4B38650-0E11-8C43-F337-EA159231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8AE53-CBAB-8449-F125-67548CE962CE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>
                <a:solidFill>
                  <a:schemeClr val="bg1"/>
                </a:solidFill>
              </a:rPr>
              <a:t>Kesimpulan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F166-E448-6699-C4DC-AC2C06F9EE4D}"/>
              </a:ext>
            </a:extLst>
          </p:cNvPr>
          <p:cNvSpPr txBox="1"/>
          <p:nvPr/>
        </p:nvSpPr>
        <p:spPr>
          <a:xfrm>
            <a:off x="1184031" y="4827844"/>
            <a:ext cx="13598769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Sukses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Pintu otomatis ganda berfungsi dan presisi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Efektif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&amp; Limit Switch berhasil melindungi hardware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IoT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Berjalan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Web Server ESP32 stabil untuk monitoring real-time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Siap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Pakai	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Layak digunakan sebagai prototipe docking Station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202406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64C6-9EAF-CE21-C986-62805B45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FA3030-195B-7A13-BA3F-26DB4E140ED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0A01CA1-9736-665D-711F-20B63254D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CDEAD5F-D661-55DF-5D9C-C2F2C8B2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923BC26-9307-4C4C-71C9-92AF0458F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35FF6-0DA2-BBC8-92DC-71AD2C83AC5E}"/>
              </a:ext>
            </a:extLst>
          </p:cNvPr>
          <p:cNvSpPr txBox="1"/>
          <p:nvPr/>
        </p:nvSpPr>
        <p:spPr>
          <a:xfrm>
            <a:off x="-1714500" y="228839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Saran </a:t>
            </a:r>
            <a:r>
              <a:rPr lang="en-US" sz="6000" b="1" dirty="0" err="1">
                <a:solidFill>
                  <a:srgbClr val="0284C7"/>
                </a:solidFill>
              </a:rPr>
              <a:t>Pengembangan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B0E42-6598-85A7-17DA-9A5AEDE7E654}"/>
              </a:ext>
            </a:extLst>
          </p:cNvPr>
          <p:cNvSpPr txBox="1"/>
          <p:nvPr/>
        </p:nvSpPr>
        <p:spPr>
          <a:xfrm>
            <a:off x="304800" y="4043121"/>
            <a:ext cx="12077700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Upgrade Server</a:t>
            </a:r>
          </a:p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Modul SIM800L, SIM7600,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dapat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dikendalikan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dipantau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melalui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aplikasi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mobile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kapan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saja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dan di mana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saja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FCB9F-8DFA-900A-A7AC-DFD882B76487}"/>
              </a:ext>
            </a:extLst>
          </p:cNvPr>
          <p:cNvSpPr txBox="1"/>
          <p:nvPr/>
        </p:nvSpPr>
        <p:spPr>
          <a:xfrm>
            <a:off x="304800" y="6965996"/>
            <a:ext cx="12077700" cy="1178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Encoder Motor</a:t>
            </a:r>
          </a:p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Tambahkan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encoder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Closed-Loop agar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posisi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mutlak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52015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8371-4331-A644-C3FD-C73DA746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435C3A-6A51-9235-333F-F26F93E095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0A6CC17-EE43-EE11-7C6F-76E9D422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DC30C7B-8B57-BA66-F28D-7C1DB209A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26DA60B-EBA5-8770-D8B9-958E1C6BD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DF905-B146-3D9F-7DDF-5B4FED276A01}"/>
              </a:ext>
            </a:extLst>
          </p:cNvPr>
          <p:cNvSpPr txBox="1"/>
          <p:nvPr/>
        </p:nvSpPr>
        <p:spPr>
          <a:xfrm>
            <a:off x="-3048000" y="2305341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Saran </a:t>
            </a:r>
            <a:r>
              <a:rPr lang="en-US" sz="6000" b="1" dirty="0" err="1">
                <a:solidFill>
                  <a:srgbClr val="0284C7"/>
                </a:solidFill>
              </a:rPr>
              <a:t>Optimasi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F4C6D-9023-FEA4-53CD-D70D56E8BD77}"/>
              </a:ext>
            </a:extLst>
          </p:cNvPr>
          <p:cNvSpPr txBox="1"/>
          <p:nvPr/>
        </p:nvSpPr>
        <p:spPr>
          <a:xfrm>
            <a:off x="304800" y="4650590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Protokol</a:t>
            </a: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MQTT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Imlementasi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Cloud IoT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akses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jarak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jauh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via Internet.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5855-FC6C-D96F-EFAA-8558AAE6BC0B}"/>
              </a:ext>
            </a:extLst>
          </p:cNvPr>
          <p:cNvSpPr txBox="1"/>
          <p:nvPr/>
        </p:nvSpPr>
        <p:spPr>
          <a:xfrm>
            <a:off x="304800" y="6965996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Watchdog Timer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Aktifkan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watchdog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auto-restart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jika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hang.</a:t>
            </a:r>
          </a:p>
        </p:txBody>
      </p:sp>
    </p:spTree>
    <p:extLst>
      <p:ext uri="{BB962C8B-B14F-4D97-AF65-F5344CB8AC3E}">
        <p14:creationId xmlns:p14="http://schemas.microsoft.com/office/powerpoint/2010/main" val="2441885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96DC-3CEB-3A89-2A4B-0C13E3AA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B7B4DF-8893-1C5C-A649-6D2A5499C7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AF3E81E-1843-C253-CFC7-0BF412B2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A00E2A1-16C8-B1D5-F3B2-4A36E71A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4CC957F-B88D-67A4-9CDF-3DE8736F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59851-8CF4-E73B-3174-911CAA5E434F}"/>
              </a:ext>
            </a:extLst>
          </p:cNvPr>
          <p:cNvSpPr txBox="1"/>
          <p:nvPr/>
        </p:nvSpPr>
        <p:spPr>
          <a:xfrm>
            <a:off x="2095500" y="3820061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0" b="1" i="0" dirty="0" err="1">
                <a:solidFill>
                  <a:schemeClr val="bg1"/>
                </a:solidFill>
                <a:effectLst/>
              </a:rPr>
              <a:t>Terima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8000" b="1" i="0" dirty="0" err="1">
                <a:solidFill>
                  <a:schemeClr val="bg1"/>
                </a:solidFill>
                <a:effectLst/>
              </a:rPr>
              <a:t>kasih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endParaRPr lang="id-ID" sz="8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E503-56B7-20FD-1770-C00A4EA57A69}"/>
              </a:ext>
            </a:extLst>
          </p:cNvPr>
          <p:cNvSpPr txBox="1"/>
          <p:nvPr/>
        </p:nvSpPr>
        <p:spPr>
          <a:xfrm>
            <a:off x="6229350" y="6348295"/>
            <a:ext cx="5829300" cy="56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YANUARDI – 221344031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13523C-B854-5F33-34A5-A7F44CC00C6A}"/>
              </a:ext>
            </a:extLst>
          </p:cNvPr>
          <p:cNvCxnSpPr/>
          <p:nvPr/>
        </p:nvCxnSpPr>
        <p:spPr>
          <a:xfrm>
            <a:off x="304800" y="6210300"/>
            <a:ext cx="17678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7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850</Words>
  <Application>Microsoft Office PowerPoint</Application>
  <PresentationFormat>Custom</PresentationFormat>
  <Paragraphs>149</Paragraphs>
  <Slides>24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 MT Pro</vt:lpstr>
      <vt:lpstr>Arial MT Pro Bold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Seminar KP - Telkom 2024.pptx</dc:title>
  <dc:creator>Yanuardi</dc:creator>
  <cp:lastModifiedBy>YANUARDI</cp:lastModifiedBy>
  <cp:revision>5</cp:revision>
  <dcterms:created xsi:type="dcterms:W3CDTF">2006-08-16T00:00:00Z</dcterms:created>
  <dcterms:modified xsi:type="dcterms:W3CDTF">2025-11-30T05:43:31Z</dcterms:modified>
  <dc:identifier>DAGSmakPTco</dc:identifier>
</cp:coreProperties>
</file>