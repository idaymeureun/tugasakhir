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72" r:id="rId10"/>
    <p:sldId id="274" r:id="rId11"/>
    <p:sldId id="275" r:id="rId12"/>
    <p:sldId id="276" r:id="rId13"/>
    <p:sldId id="277" r:id="rId14"/>
    <p:sldId id="280" r:id="rId15"/>
    <p:sldId id="281" r:id="rId16"/>
    <p:sldId id="285" r:id="rId17"/>
    <p:sldId id="282" r:id="rId18"/>
    <p:sldId id="283" r:id="rId19"/>
    <p:sldId id="284" r:id="rId20"/>
    <p:sldId id="288" r:id="rId21"/>
    <p:sldId id="287" r:id="rId22"/>
    <p:sldId id="286" r:id="rId23"/>
  </p:sldIdLst>
  <p:sldSz cx="18288000" cy="10287000"/>
  <p:notesSz cx="6858000" cy="9144000"/>
  <p:embeddedFontLst>
    <p:embeddedFont>
      <p:font typeface="Arial MT Pro" panose="020B0604020202020204" charset="0"/>
      <p:regular r:id="rId25"/>
    </p:embeddedFont>
    <p:embeddedFont>
      <p:font typeface="Arial MT Pro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F878C-3E2D-47FD-802D-83A935246873}" type="datetimeFigureOut">
              <a:rPr lang="id-ID" smtClean="0"/>
              <a:t>09/12/2025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F1299D-89B1-40F0-A52B-A06781FC8A5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85087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14436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otomasi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semakin berkembang pesat dalam berbagai industri, termasuk dalam aplikasi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drone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docking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station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Perkembangan teknologi ini menciptakan kebutuhan akan sistem kontrol pintu yang presisi, aman, dan terintegrasi dengan baik.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masalah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Pertama, Kebutuhan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Otomasi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Stasiun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docking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drone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memerlukan pintu yang dapat bergerak secara presisi dan aman. Sistem ini harus mampu membuka pintu secara otomatis ketika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drone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akan mendarat atau lepas landas, dan menutupnya kembali untuk melindungi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drone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saat tersimpan.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Kedua, Isu Keamanan Elektrik:</a:t>
            </a:r>
            <a:b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Noise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atau lonjakan arus yang dihasilkan oleh motor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stepper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dengan torsi tinggi berisiko merusak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mikrokontroler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komponen sensitif lainnya. Oleh karena itu, diperlukan isolasi sinyal yang efektif.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id-ID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Ketiga, Kebutuhan Integrasi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IoT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 harus mendukung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monitoring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pengendalian secara nirkabel melalui teknologi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WiFi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tanpa adanya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delay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signifikan dalam respons perintah.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id-ID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Keempat, Mekanisme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Charging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Otomatis:</a:t>
            </a:r>
            <a:b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Proses pengisian daya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drone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harus berjalan secara otomatis dan aman, hanya ketika pintu dalam kondisi tertutup penuh, untuk mencegah terjadinya arus pendek atau interferensi mekanis.</a:t>
            </a:r>
          </a:p>
          <a:p>
            <a:br>
              <a:rPr lang="id-ID" dirty="0"/>
            </a:b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32305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Pertama, Sinkronisasi Motor:</a:t>
            </a:r>
            <a:b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Merancang dan mengimplementasikan sistem yang mampu mengatur dua motor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stepper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dengan jeda waktu yang presisi. Motor dapat bergerak secara bersamaan atau terpisah sesuai perintah yang diberikan.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id-ID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Kedua, Mekanisme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Charging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Otomatis:</a:t>
            </a:r>
            <a:b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Mengembangkan mekanisme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docking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charging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dilengkapi dengan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interlock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Relay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pengisian daya hanya akan aktif ketika kedua pintu dalam kondisi tertutup sempurna.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Ketiga, Sistem Proteksi Komprehensif:</a:t>
            </a:r>
            <a:b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Menerapkan isolasi sinyal menggunakan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optocoupler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PC817 untuk melindungi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mikrokontroler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dari gangguan listrik, serta menggunakan limit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switch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sebagai sensor batas mekanis yang aman.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Keempat,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Monitoring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IoT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Real-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Mengintegrasikan ESP32 sebagai web server mandiri untuk memungkinkan pengendalian dan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monitoring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jarak dekat melalui antarmuka web yang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user-friendly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84032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68008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84165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 proyek ini,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Arduino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Mega berperan sebagai:</a:t>
            </a:r>
          </a:p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 kontrol utama yang mengatur sinyal arah (DIR) dan pulsa langkah (STEP/PUL) untuk motor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stepper</a:t>
            </a:r>
            <a:endParaRPr lang="id-ID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Pembaca status dari limit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switch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tersebar di kedua pintu</a:t>
            </a:r>
          </a:p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Pengontrol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relay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untuk mekanisme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docking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charging</a:t>
            </a:r>
            <a:endParaRPr lang="id-ID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 memanfaatkan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WiFi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bawaan, ESP32 dapat:</a:t>
            </a:r>
          </a:p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Bertindak sebagai Access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mandiri dengan SSID "ESP32_DOCK_CTRL"</a:t>
            </a:r>
          </a:p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Menjalankan web server asinkron tanpa memerlukan koneksi ke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eksternal</a:t>
            </a:r>
          </a:p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Mengirimkan dan menerima perintah dari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melalui protokol HTTP</a:t>
            </a:r>
          </a:p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Mengumpulkan dan menampilkan data status real-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dari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Arduino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Mega</a:t>
            </a:r>
          </a:p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6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81741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 sistem kami, motor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stepper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digerakkan melalui dua sinyal kontrol:</a:t>
            </a:r>
          </a:p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Sinyal PUL (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Pulse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 Menentukan kecepatan dan jumlah langkah pergerakan</a:t>
            </a:r>
          </a:p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Sinyal DIR (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Direction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 Menentukan arah putaran (buka atau tutup)</a:t>
            </a:r>
          </a:p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Fitur Utama TB6600:</a:t>
            </a:r>
          </a:p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Penguatan Arus: Mampu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mengamplifikasi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sinyal kontrol 5V dari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Arduino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menjadi sinyal daya hingga 4A</a:t>
            </a:r>
          </a:p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Microstepping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Mendukung mode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microstepping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membuat pergerakan motor lebih halus dan mengurangi getaran</a:t>
            </a:r>
          </a:p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Protokol Kontrol: Menerima sinyal STEP (pulsa) dan DIR (arah) yang kompatibel dengan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Arduino</a:t>
            </a:r>
            <a:endParaRPr lang="id-ID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82095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Optocoupler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atau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optical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isolator adalah komponen elektronika yang memisahkan dua rangkaian listrik secara optik tanpa koneksi listrik langsung.</a:t>
            </a:r>
          </a:p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Prinsip Kerja:</a:t>
            </a:r>
          </a:p>
          <a:p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Optocoupler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PC817 memiliki struktur internal:</a:t>
            </a:r>
          </a:p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LED Inframerah (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Transmitter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 Diaktifkan oleh sinyal logika 5V dari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Arduino</a:t>
            </a:r>
            <a:endParaRPr lang="id-ID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Fototransistor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Receiver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 Diaktifkan ketika cahaya dari LED diterima</a:t>
            </a:r>
          </a:p>
          <a:p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Ketika LED menyala,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fototransistor</a:t>
            </a:r>
            <a:r>
              <a:rPr lang="id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akan menghantarkan sinyal ke sisi </a:t>
            </a:r>
            <a:r>
              <a:rPr lang="id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</a:t>
            </a:r>
            <a:endParaRPr lang="id-ID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dirty="0"/>
            </a:b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8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75090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10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623878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7E46F-4237-698B-E8EC-57E84099D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1B4A6-9907-7F3A-E322-12DD541F2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CEDE4-B579-225A-90AC-F43BEBA8C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E8FF9-77BD-2886-701E-BE24899C1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818323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4DDD5-CE2B-5066-AED6-02F9E0775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2CEB28-9268-61E8-CE8F-B8CCC43D5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2FAA8-2949-D68C-FE46-E658C6DC2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834D6-62F3-A455-3DD1-44EE2B69D8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524888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8133B-9BA5-DAF9-E17F-17221FB08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41ED15-BB5F-E155-E040-36087B07D8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4883F7-2998-CC2E-3CB0-94300A506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D4BA0-BDD4-B52B-3635-2760B43D6B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549462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98F07-27A0-5743-60EA-39A094BC6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68C734-33C0-7E5A-BF1E-28940FCDC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1B4E9-3DEC-49A4-03A9-EA7CAA31D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0F2E9-B858-A0F5-D4B4-F5B68625B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469326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B5F3F-2A4C-BD91-B1A6-0097669DA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A129FC-1C64-5391-8845-B80018876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D1427F-F451-6144-B6B7-1373E04CC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05E8B-8911-D192-2CC7-5EB225AE9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270255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0FAB4-72DB-DDCF-F9D6-E6D710A88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0A91E-5A2C-1B71-EB85-DB4FCF3EC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238FBD-0B9C-7E5E-3FD3-89A2E99D6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BE78A-5896-664A-DDFB-EF7CF8A4C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16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52435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F1764-A14E-B423-7761-D5F13B40B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A3871D-6128-CA22-5CA6-E13160471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16F983-86CF-3C51-F64E-DB4111F8F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DD632-7DBF-CF8B-6B72-21720B2686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446775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5773C-1B35-5080-7B3B-CD448451B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8666F-66D5-BC05-D5B8-8DBCFAD99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BD5F9-14C9-1E62-9085-28A8CB19A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Secara keseluruhan, sistem menunjukkan </a:t>
            </a:r>
            <a:r>
              <a:rPr lang="id-ID" b="1" dirty="0" err="1"/>
              <a:t>Reabilitas</a:t>
            </a:r>
            <a:r>
              <a:rPr lang="id-ID" dirty="0"/>
              <a:t> yang tinggi. Integrasi ATMega2560 (Kontrol Fisik) dan ESP32 (Antarmuka Web) bekerja </a:t>
            </a:r>
            <a:r>
              <a:rPr lang="id-ID" b="1" dirty="0"/>
              <a:t>harmonis</a:t>
            </a:r>
            <a:r>
              <a:rPr lang="id-ID" dirty="0"/>
              <a:t> dan sistem stabil dalam pengujian jangka panjang, memenuhi tujuan perancangan."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4BCF0-568C-E3D3-7A81-BCAAF9842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18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87181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D46D2-0E5B-6AB3-1D83-A3CF6F8E3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D3432-6EF8-D899-E47D-E5E6F3C23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99056F-E47B-AE1A-8D74-C927E3B98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b="1" dirty="0"/>
              <a:t>Kesimpulan Sistem</a:t>
            </a:r>
            <a:r>
              <a:rPr lang="id-ID" dirty="0"/>
              <a:t> "Kesimpulan dari proyek PKL ini adalah:</a:t>
            </a:r>
          </a:p>
          <a:p>
            <a:r>
              <a:rPr lang="id-ID" b="1" dirty="0"/>
              <a:t>Kontrol Sukses:</a:t>
            </a:r>
            <a:r>
              <a:rPr lang="id-ID" dirty="0"/>
              <a:t> Sistem pintu otomatis ganda berfungsi presisi dan stabil.</a:t>
            </a:r>
          </a:p>
          <a:p>
            <a:r>
              <a:rPr lang="id-ID" b="1" dirty="0"/>
              <a:t>Proteksi Efektif:</a:t>
            </a:r>
            <a:r>
              <a:rPr lang="id-ID" dirty="0"/>
              <a:t> </a:t>
            </a:r>
            <a:r>
              <a:rPr lang="id-ID" dirty="0" err="1"/>
              <a:t>Optocoupler</a:t>
            </a:r>
            <a:r>
              <a:rPr lang="id-ID" dirty="0"/>
              <a:t> dan Limit </a:t>
            </a:r>
            <a:r>
              <a:rPr lang="id-ID" dirty="0" err="1"/>
              <a:t>Switch</a:t>
            </a:r>
            <a:r>
              <a:rPr lang="id-ID" dirty="0"/>
              <a:t> berhasil melindungi </a:t>
            </a:r>
            <a:r>
              <a:rPr lang="id-ID" dirty="0" err="1"/>
              <a:t>hardware</a:t>
            </a:r>
            <a:r>
              <a:rPr lang="id-ID" dirty="0"/>
              <a:t>.</a:t>
            </a:r>
          </a:p>
          <a:p>
            <a:r>
              <a:rPr lang="id-ID" b="1" dirty="0" err="1"/>
              <a:t>IoT</a:t>
            </a:r>
            <a:r>
              <a:rPr lang="id-ID" b="1" dirty="0"/>
              <a:t> Berjalan:</a:t>
            </a:r>
            <a:r>
              <a:rPr lang="id-ID" dirty="0"/>
              <a:t> Web Server ESP32 stabil untuk </a:t>
            </a:r>
            <a:r>
              <a:rPr lang="id-ID" dirty="0" err="1"/>
              <a:t>monitoring</a:t>
            </a:r>
            <a:r>
              <a:rPr lang="id-ID" dirty="0"/>
              <a:t> </a:t>
            </a:r>
            <a:r>
              <a:rPr lang="id-ID" i="1" dirty="0"/>
              <a:t>real-</a:t>
            </a:r>
            <a:r>
              <a:rPr lang="id-ID" i="1" dirty="0" err="1"/>
              <a:t>time</a:t>
            </a:r>
            <a:r>
              <a:rPr lang="id-ID" dirty="0"/>
              <a:t>.</a:t>
            </a:r>
          </a:p>
          <a:p>
            <a:r>
              <a:rPr lang="id-ID" b="1" dirty="0"/>
              <a:t>Siap Pakai:</a:t>
            </a:r>
            <a:r>
              <a:rPr lang="id-ID" dirty="0"/>
              <a:t> Sistem layak digunakan sebagai prototipe </a:t>
            </a:r>
            <a:r>
              <a:rPr lang="id-ID" i="1" dirty="0" err="1"/>
              <a:t>docking</a:t>
            </a:r>
            <a:r>
              <a:rPr lang="id-ID" i="1" dirty="0"/>
              <a:t> </a:t>
            </a:r>
            <a:r>
              <a:rPr lang="id-ID" i="1" dirty="0" err="1"/>
              <a:t>station</a:t>
            </a:r>
            <a:r>
              <a:rPr lang="id-ID" dirty="0"/>
              <a:t> </a:t>
            </a:r>
            <a:r>
              <a:rPr lang="id-ID" dirty="0" err="1"/>
              <a:t>drone</a:t>
            </a:r>
            <a:r>
              <a:rPr lang="id-ID" dirty="0"/>
              <a:t>."</a:t>
            </a:r>
          </a:p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71586-16AA-E2E6-79B4-73CA8B711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19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704370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A2C18-50D7-39E6-C1D5-27DF7DF67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551B07-1139-1E21-38F7-B23365698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DF427-A529-D48E-2482-290744545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CABD9-71C9-EED9-D731-1116FB337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20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18363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F0B5A-6F01-02F4-E619-785D97480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13FA0B-B2B9-243C-26E9-8CE24A2C7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64386-87C1-9216-B848-F010B089F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439FA-B847-C3D0-00C7-F7B7B4B9AA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21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512291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49AF7-0D15-B336-940C-9BCF7A579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B0766-3448-7FBF-943A-C8D76E241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5BC16F-1B44-0453-5875-9AF4CC7BE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9C6D5-C807-2119-EE35-A47A452A0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22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42014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3" name="TextBox 3"/>
          <p:cNvSpPr txBox="1"/>
          <p:nvPr/>
        </p:nvSpPr>
        <p:spPr>
          <a:xfrm>
            <a:off x="3067812" y="2207191"/>
            <a:ext cx="14458188" cy="3638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Rancang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Bangun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Sistem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Kontrol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Pintu </a:t>
            </a: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Otomatis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Ganda </a:t>
            </a: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dengan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Isolasi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Optocoupler dan </a:t>
            </a: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Mekanisme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Docking Charging </a:t>
            </a: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Berbasis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Arduino Mega dan ESP32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56952" y="6326648"/>
            <a:ext cx="14842020" cy="130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: YANUARDI</a:t>
            </a:r>
          </a:p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: 221344031</a:t>
            </a:r>
          </a:p>
          <a:p>
            <a:pPr algn="l">
              <a:lnSpc>
                <a:spcPts val="2520"/>
              </a:lnSpc>
            </a:pPr>
            <a:endParaRPr lang="en-US" sz="2100" b="1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just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:Ir. Hertog Nugroho, M.Sc., Ph.D.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067812" y="7924818"/>
            <a:ext cx="14842020" cy="96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D4 TEKNIK TELEKOMUNIKASI </a:t>
            </a:r>
          </a:p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JURUSAN TEKNIK ELEKTRO</a:t>
            </a:r>
          </a:p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POLITEKNIK NEGERI BANDUNG 2025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67812" y="6326648"/>
            <a:ext cx="14842020" cy="130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NAMA               </a:t>
            </a:r>
          </a:p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NIM                     </a:t>
            </a:r>
          </a:p>
          <a:p>
            <a:pPr algn="l">
              <a:lnSpc>
                <a:spcPts val="2520"/>
              </a:lnSpc>
            </a:pPr>
            <a:endParaRPr lang="en-US" sz="2100" b="1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just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PEMBIMBING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01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" name="TextBox 4"/>
          <p:cNvSpPr txBox="1"/>
          <p:nvPr/>
        </p:nvSpPr>
        <p:spPr>
          <a:xfrm>
            <a:off x="1481328" y="1834169"/>
            <a:ext cx="15325344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b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Latar Belakang &amp; Tujuan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67225" y="5870042"/>
            <a:ext cx="3641554" cy="676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Latar Belakang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39200" y="3238500"/>
            <a:ext cx="8130874" cy="6163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ct val="150000"/>
              </a:lnSpc>
              <a:buFont typeface="Arial"/>
              <a:buChar char="•"/>
            </a:pP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Kebutuhan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Otomasi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: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Stasiun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drone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memerlukan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pintu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yang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bergerak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presisi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dan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aman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  <a:p>
            <a:pPr marL="647695" lvl="1" indent="-323848" algn="l">
              <a:lnSpc>
                <a:spcPct val="150000"/>
              </a:lnSpc>
              <a:buFont typeface="Arial"/>
              <a:buChar char="•"/>
            </a:pP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Isu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Keamanan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: Noise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dari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motor torsi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tinggi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berisiko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merusak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mikrokontroler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  <a:p>
            <a:pPr marL="647695" lvl="1" indent="-323848" algn="l">
              <a:lnSpc>
                <a:spcPct val="150000"/>
              </a:lnSpc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Integrasi IoT: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Kebutuhan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monitoring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nirkabel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tanpa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delay.</a:t>
            </a:r>
          </a:p>
          <a:p>
            <a:pPr marL="647695" lvl="1" indent="-323848" algn="l">
              <a:lnSpc>
                <a:spcPct val="150000"/>
              </a:lnSpc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Charging: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Mekanisme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pengisian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daya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harus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otomatis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dan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aman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(interlock).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" name="TextBox 4"/>
          <p:cNvSpPr txBox="1"/>
          <p:nvPr/>
        </p:nvSpPr>
        <p:spPr>
          <a:xfrm>
            <a:off x="1481328" y="1834169"/>
            <a:ext cx="15325344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Latar </a:t>
            </a: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Belakang</a:t>
            </a: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&amp; Tujuan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34188" y="5646287"/>
            <a:ext cx="1665116" cy="676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Tujuan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38772" y="3586401"/>
            <a:ext cx="9867900" cy="54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695" lvl="1" indent="-323848" algn="l">
              <a:lnSpc>
                <a:spcPct val="150000"/>
              </a:lnSpc>
              <a:buAutoNum type="arabicPeriod"/>
            </a:pP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Sinkronisasi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: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Mengatur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dua motor stepper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dengan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jeda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presisi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  <a:p>
            <a:pPr marL="647695" lvl="1" indent="-323848" algn="l">
              <a:lnSpc>
                <a:spcPct val="150000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Charging : </a:t>
            </a:r>
            <a:r>
              <a:rPr lang="sv-SE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Mekanisme charging otomatis dengan interlock.</a:t>
            </a:r>
            <a:endParaRPr lang="en-US" sz="3000" dirty="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647695" lvl="1" indent="-323848" algn="l">
              <a:lnSpc>
                <a:spcPct val="150000"/>
              </a:lnSpc>
              <a:buAutoNum type="arabicPeriod"/>
            </a:pP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Proteksi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: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Isolasi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Optocoupler &amp; Limit Switch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keamanan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  <a:p>
            <a:pPr marL="647695" lvl="1" indent="-323848" algn="l">
              <a:lnSpc>
                <a:spcPct val="150000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IoT Monitor : Web server ESP32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kontrol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real-time.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076479-5D91-44FA-A24B-A3B237E49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21757"/>
            <a:ext cx="18288000" cy="8879518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4220" y="1342273"/>
            <a:ext cx="18288000" cy="8944728"/>
          </a:xfrm>
          <a:custGeom>
            <a:avLst/>
            <a:gdLst/>
            <a:ahLst/>
            <a:cxnLst/>
            <a:rect l="l" t="t" r="r" b="b"/>
            <a:pathLst>
              <a:path w="18288000" h="10201275">
                <a:moveTo>
                  <a:pt x="0" y="0"/>
                </a:moveTo>
                <a:lnTo>
                  <a:pt x="18288000" y="0"/>
                </a:lnTo>
                <a:lnTo>
                  <a:pt x="18288000" y="10201275"/>
                </a:lnTo>
                <a:lnTo>
                  <a:pt x="0" y="102012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6000"/>
            </a:blip>
            <a:stretch>
              <a:fillRect t="-17226" b="-17226"/>
            </a:stretch>
          </a:blipFill>
          <a:effectLst>
            <a:outerShdw dist="50800" dir="5400000" algn="ctr" rotWithShape="0">
              <a:schemeClr val="tx1">
                <a:alpha val="0"/>
              </a:schemeClr>
            </a:outerShdw>
            <a:reflection stA="0" endPos="65000" dist="50800" dir="5400000" sy="-100000" algn="bl" rotWithShape="0"/>
          </a:effectLst>
        </p:spPr>
        <p:txBody>
          <a:bodyPr/>
          <a:lstStyle/>
          <a:p>
            <a:endParaRPr lang="id-ID" dirty="0"/>
          </a:p>
        </p:txBody>
      </p:sp>
      <p:sp>
        <p:nvSpPr>
          <p:cNvPr id="6" name="TextBox 6"/>
          <p:cNvSpPr txBox="1"/>
          <p:nvPr/>
        </p:nvSpPr>
        <p:spPr>
          <a:xfrm>
            <a:off x="1481328" y="1876962"/>
            <a:ext cx="15325344" cy="1062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Waktu dan </a:t>
            </a: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Tempat</a:t>
            </a: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Pelaksanaan</a:t>
            </a: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68323" y="3083512"/>
            <a:ext cx="10859312" cy="2298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Pelaksanaan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kerja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praktek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ini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dilaksanakan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pada:</a:t>
            </a:r>
          </a:p>
          <a:p>
            <a:pPr algn="l">
              <a:lnSpc>
                <a:spcPts val="3599"/>
              </a:lnSpc>
            </a:pPr>
            <a:endParaRPr lang="en-US" sz="2999" b="1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l">
              <a:lnSpc>
                <a:spcPts val="3599"/>
              </a:lnSpc>
            </a:pP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Tanggal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         : 01 Juli 2025 s/d. 02 Januari 2026</a:t>
            </a:r>
          </a:p>
          <a:p>
            <a:pPr algn="l">
              <a:lnSpc>
                <a:spcPts val="3599"/>
              </a:lnSpc>
            </a:pP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Waktu             : 08.00 – 17.30 WIB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Tempat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          : PT. Solusi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Intek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Indonesia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14047" y="8977299"/>
            <a:ext cx="3472025" cy="504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b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Lokasi Perusahaan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70502" y="5789614"/>
            <a:ext cx="7441563" cy="183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Di Workshop 08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Cikunir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yang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berlokasi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di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Cikunir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Raya No.8, RT.004/RW.011,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Jatimekar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,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Kec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.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Jatiasih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, Kota Bks, Jawa Barat 17422.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2A66A7-8B23-0ADD-F35C-E5E0B04442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1649" y="5789614"/>
            <a:ext cx="3734423" cy="26718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3" name="TextBox 3"/>
          <p:cNvSpPr txBox="1"/>
          <p:nvPr/>
        </p:nvSpPr>
        <p:spPr>
          <a:xfrm>
            <a:off x="1481328" y="5376536"/>
            <a:ext cx="15325344" cy="91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LANDASAN TEORI &amp; PELAKSANAAN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619488-C381-D842-1161-50598B08E76A}"/>
              </a:ext>
            </a:extLst>
          </p:cNvPr>
          <p:cNvSpPr txBox="1"/>
          <p:nvPr/>
        </p:nvSpPr>
        <p:spPr>
          <a:xfrm>
            <a:off x="304800" y="2095500"/>
            <a:ext cx="11506200" cy="100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1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Controller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CB0915-B028-E42C-A5BD-5863745FD80F}"/>
              </a:ext>
            </a:extLst>
          </p:cNvPr>
          <p:cNvSpPr txBox="1"/>
          <p:nvPr/>
        </p:nvSpPr>
        <p:spPr>
          <a:xfrm>
            <a:off x="304800" y="3709142"/>
            <a:ext cx="9144000" cy="556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7695" marR="0" lvl="1" indent="-323848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Arduino Mega 2560</a:t>
            </a:r>
          </a:p>
          <a:p>
            <a:pPr marL="323847" marR="0" lvl="1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Unit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kontrol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utama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Dipilih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karena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54 Pin I/O dan 4 UART Hardware.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Menangani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logika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motor dan sensor.</a:t>
            </a:r>
          </a:p>
          <a:p>
            <a:pPr marL="323847" marR="0" lvl="1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2. E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SP32</a:t>
            </a:r>
          </a:p>
          <a:p>
            <a:pPr marL="323847" marR="0" lvl="1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Modul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komunikasi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WiFi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Berfungsi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sebagai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Web Server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mandiri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yang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mengirim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perintah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ke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Mega via Serial.</a:t>
            </a:r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148A7E7B-0991-1016-D6FC-B86EE4A97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73DF7E09-8B85-4E1B-B5EE-D65C8D3D9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BDE39D7A-F214-E473-A0A5-98C65AD89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pic>
        <p:nvPicPr>
          <p:cNvPr id="52" name="Picture 51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76149EB7-752C-0325-5B9E-CF7C911304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3771900"/>
            <a:ext cx="7319118" cy="46481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196D6-9907-87EF-E29D-4DA007645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B855234-7477-FF19-C18C-68B48A7E33E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636074-D163-A649-FCA9-42955F5376B0}"/>
              </a:ext>
            </a:extLst>
          </p:cNvPr>
          <p:cNvSpPr txBox="1"/>
          <p:nvPr/>
        </p:nvSpPr>
        <p:spPr>
          <a:xfrm>
            <a:off x="304800" y="2095500"/>
            <a:ext cx="11506200" cy="100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1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Aktuator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B483207-B54E-D306-1F6F-E3C64C36D1CE}"/>
              </a:ext>
            </a:extLst>
          </p:cNvPr>
          <p:cNvSpPr txBox="1"/>
          <p:nvPr/>
        </p:nvSpPr>
        <p:spPr>
          <a:xfrm>
            <a:off x="341671" y="3802442"/>
            <a:ext cx="9144000" cy="4870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1. Motor Stepper HUIYINN</a:t>
            </a:r>
          </a:p>
          <a:p>
            <a:pPr marL="323847" marR="0" lvl="1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Torsi holding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kuat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menahan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beban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pintu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 Gerakan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presisi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per step (1.8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derajat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)..</a:t>
            </a:r>
          </a:p>
          <a:p>
            <a:pPr marL="323847" marR="0" lvl="1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2. 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Driver TB6600</a:t>
            </a:r>
          </a:p>
          <a:p>
            <a:pPr marL="323847" marR="0" lvl="1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Penguat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arus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motor (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hingga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4A)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dengan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fitur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Microstepping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pergerakan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yang sangat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halus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C4602A4F-D318-033B-CBB3-91F253C98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6CA70276-2F7D-7CC7-010E-3AF4A39F8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6F90E630-6485-4429-F6CB-5976574CF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pic>
        <p:nvPicPr>
          <p:cNvPr id="4" name="Picture 3" descr="A close-up of a microstep driver&#10;&#10;AI-generated content may be incorrect.">
            <a:extLst>
              <a:ext uri="{FF2B5EF4-FFF2-40B4-BE49-F238E27FC236}">
                <a16:creationId xmlns:a16="http://schemas.microsoft.com/office/drawing/2014/main" id="{F9025E00-ABEC-28E4-6311-6537990CBA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3802442"/>
            <a:ext cx="7152943" cy="454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311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3865D-6A28-68BD-8132-F7962C4E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83A15FF-E1B8-1575-79DF-C307E894F9D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FC4FB3-9B15-8BBA-C9E8-D75F8C1173C3}"/>
              </a:ext>
            </a:extLst>
          </p:cNvPr>
          <p:cNvSpPr txBox="1"/>
          <p:nvPr/>
        </p:nvSpPr>
        <p:spPr>
          <a:xfrm>
            <a:off x="304800" y="2095500"/>
            <a:ext cx="11506200" cy="968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1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5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Proteksi</a:t>
            </a:r>
            <a:r>
              <a:rPr lang="en-US" sz="55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55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Mekanis</a:t>
            </a:r>
            <a:r>
              <a:rPr lang="en-US" sz="55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dan </a:t>
            </a:r>
            <a:r>
              <a:rPr lang="en-US" sz="55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Electrik</a:t>
            </a:r>
            <a:endParaRPr kumimoji="0" lang="en-US" sz="5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F802A18-5A19-D356-0122-5AB58AEA79C0}"/>
              </a:ext>
            </a:extLst>
          </p:cNvPr>
          <p:cNvSpPr txBox="1"/>
          <p:nvPr/>
        </p:nvSpPr>
        <p:spPr>
          <a:xfrm>
            <a:off x="304800" y="3695700"/>
            <a:ext cx="9144000" cy="556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7695" lvl="1" indent="-323848">
              <a:lnSpc>
                <a:spcPct val="150000"/>
              </a:lnSpc>
              <a:buFontTx/>
              <a:buAutoNum type="arabicPeriod"/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Optocoupler PC817</a:t>
            </a:r>
          </a:p>
          <a:p>
            <a:pPr marL="323847" lvl="1">
              <a:lnSpc>
                <a:spcPct val="150000"/>
              </a:lnSpc>
              <a:defRPr/>
            </a:pP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Mengisolasi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sinyal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5V Arduino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dari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tegangan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motor 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12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V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menggunakan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cahaya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Mencegah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kerusakan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akibat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Back-EMF.</a:t>
            </a:r>
          </a:p>
          <a:p>
            <a:pPr marL="323847" lvl="1">
              <a:lnSpc>
                <a:spcPct val="150000"/>
              </a:lnSpc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2. 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Limit Switch</a:t>
            </a:r>
          </a:p>
          <a:p>
            <a:pPr marL="323847" lvl="1">
              <a:lnSpc>
                <a:spcPct val="150000"/>
              </a:lnSpc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Sensor batas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mekanis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(NO)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mendeteksi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posisi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akhir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pintu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dan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menghentikan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motor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otomatis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61D8F150-AC7C-2700-0F01-F2CF23793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C8209ED0-CF43-48CB-3F38-6837042B5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D9B56892-CADE-8097-1D64-1F01577C9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pic>
        <p:nvPicPr>
          <p:cNvPr id="5" name="Picture 4" descr="A close-up of a device&#10;&#10;AI-generated content may be incorrect.">
            <a:extLst>
              <a:ext uri="{FF2B5EF4-FFF2-40B4-BE49-F238E27FC236}">
                <a16:creationId xmlns:a16="http://schemas.microsoft.com/office/drawing/2014/main" id="{38D02619-009B-6C09-31D6-65B0BF7AF7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579" y="4093908"/>
            <a:ext cx="6961918" cy="441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742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57A3F-D44B-C928-557B-FE04B399F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91E321B-D1D2-B7B4-5508-52AEB0ADCE5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35308B-EEC5-634B-20CC-3185F8B48A87}"/>
              </a:ext>
            </a:extLst>
          </p:cNvPr>
          <p:cNvSpPr txBox="1"/>
          <p:nvPr/>
        </p:nvSpPr>
        <p:spPr>
          <a:xfrm>
            <a:off x="304800" y="2095500"/>
            <a:ext cx="11506200" cy="100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1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Perakitan</a:t>
            </a: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6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Hardware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B71958-1876-5356-3599-34B56360E589}"/>
              </a:ext>
            </a:extLst>
          </p:cNvPr>
          <p:cNvSpPr txBox="1"/>
          <p:nvPr/>
        </p:nvSpPr>
        <p:spPr>
          <a:xfrm>
            <a:off x="594606" y="3238500"/>
            <a:ext cx="9144000" cy="625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lvl="1">
              <a:lnSpc>
                <a:spcPct val="150000"/>
              </a:lnSpc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1.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Persiapan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: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Menyiapkan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Mega, ESP32, Driver TB6600, dan Power Supply 30V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dll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2. PCB Prototype : 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Menyolder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Optocoupler dan terminal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blok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jalur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sinyal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yang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kokoh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3. Wiring :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Menghubungkan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jalur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komunikasi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Serial2 (Mega)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ke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Serial2 (ESP32).</a:t>
            </a:r>
          </a:p>
          <a:p>
            <a:pPr marL="323847" lvl="1">
              <a:lnSpc>
                <a:spcPct val="150000"/>
              </a:lnSpc>
              <a:defRPr/>
            </a:pPr>
            <a:endParaRPr lang="en-US" sz="2999" dirty="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3D2ABC2E-0345-BE15-E9A9-D06A09EC6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DA863707-F81D-25F7-D454-6CFA7385A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B8B9E193-8FA2-E921-BBFD-709BBFEBD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pic>
        <p:nvPicPr>
          <p:cNvPr id="13" name="Picture 12" descr="A close-up of a computer&#10;&#10;AI-generated content may be incorrect.">
            <a:extLst>
              <a:ext uri="{FF2B5EF4-FFF2-40B4-BE49-F238E27FC236}">
                <a16:creationId xmlns:a16="http://schemas.microsoft.com/office/drawing/2014/main" id="{D6465DDA-D8BE-6EE1-74C8-6FA4E44E70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64241" y="2723259"/>
            <a:ext cx="4920247" cy="656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385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5E012-FC37-9A16-A7A3-5EE44BAA2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8617403-8906-B1EE-950E-59642DF3D3C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7E16B0D4-7827-4D1E-C3C4-3088D6CD6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49F148E4-6F29-4056-0C1C-EA3463ADB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9C352C9F-AE4C-7CC0-02F8-3B26E1B8D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0AE8F3-DF32-B976-452E-ADA73E6239ED}"/>
              </a:ext>
            </a:extLst>
          </p:cNvPr>
          <p:cNvSpPr txBox="1"/>
          <p:nvPr/>
        </p:nvSpPr>
        <p:spPr>
          <a:xfrm>
            <a:off x="2095500" y="4481780"/>
            <a:ext cx="14097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id-ID" sz="8000" b="1" i="0" dirty="0">
                <a:solidFill>
                  <a:schemeClr val="bg1"/>
                </a:solidFill>
                <a:effectLst/>
              </a:rPr>
              <a:t>PENGUJIAN &amp; </a:t>
            </a:r>
            <a:r>
              <a:rPr lang="id-ID" sz="8000" b="1" i="0" dirty="0">
                <a:solidFill>
                  <a:srgbClr val="0284C7"/>
                </a:solidFill>
                <a:effectLst/>
              </a:rPr>
              <a:t>ANALISIS</a:t>
            </a:r>
            <a:endParaRPr lang="id-ID" sz="8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40944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3F26E-8EE1-E9D2-8257-68689DCE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DFB518F-A42F-E6B4-8FC4-8455049FED8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E6EDD84A-3B1D-68C5-2F06-E810D07AC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08F8F964-798F-29B0-1617-B2A4BD52C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AE7211BC-0D28-7336-3A8C-C72EB33C9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B2DC6-F824-2168-53F0-233DD9B3F24F}"/>
              </a:ext>
            </a:extLst>
          </p:cNvPr>
          <p:cNvSpPr txBox="1"/>
          <p:nvPr/>
        </p:nvSpPr>
        <p:spPr>
          <a:xfrm>
            <a:off x="-1828800" y="240030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 err="1">
                <a:solidFill>
                  <a:schemeClr val="bg1"/>
                </a:solidFill>
                <a:effectLst/>
              </a:rPr>
              <a:t>Metodologi</a:t>
            </a:r>
            <a:r>
              <a:rPr lang="id-ID" sz="6000" b="1" i="0" dirty="0">
                <a:solidFill>
                  <a:schemeClr val="bg1"/>
                </a:solidFill>
                <a:effectLst/>
              </a:rPr>
              <a:t> &amp; </a:t>
            </a:r>
            <a:r>
              <a:rPr lang="en-US" sz="6000" b="1" i="0" dirty="0" err="1">
                <a:solidFill>
                  <a:srgbClr val="0284C7"/>
                </a:solidFill>
                <a:effectLst/>
              </a:rPr>
              <a:t>Pengujian</a:t>
            </a:r>
            <a:endParaRPr lang="id-ID" sz="6000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42D3A7-D3F2-9C52-F7CE-32AFFD6F295A}"/>
              </a:ext>
            </a:extLst>
          </p:cNvPr>
          <p:cNvSpPr txBox="1"/>
          <p:nvPr/>
        </p:nvSpPr>
        <p:spPr>
          <a:xfrm>
            <a:off x="990600" y="3985504"/>
            <a:ext cx="1005840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4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1. </a:t>
            </a:r>
          </a:p>
          <a:p>
            <a:pPr marL="323847" marR="0" lvl="1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Uji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Parsial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: Motor, Limit Switch,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Isolasi</a:t>
            </a:r>
            <a:endParaRPr kumimoji="0" lang="en-US" sz="2999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9BD11D-5A72-6FFD-CC8F-9E5450315740}"/>
              </a:ext>
            </a:extLst>
          </p:cNvPr>
          <p:cNvSpPr txBox="1"/>
          <p:nvPr/>
        </p:nvSpPr>
        <p:spPr>
          <a:xfrm>
            <a:off x="8540262" y="3985504"/>
            <a:ext cx="1005840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rgbClr val="1F497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2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 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Uji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Komunikasi</a:t>
            </a:r>
            <a:r>
              <a:rPr lang="en-US" sz="2999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: UART ESP32 – ATMega2560</a:t>
            </a:r>
            <a:endParaRPr kumimoji="0" lang="en-US" sz="2999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571C33-33B0-8C00-CC7E-021A56F1E2EE}"/>
              </a:ext>
            </a:extLst>
          </p:cNvPr>
          <p:cNvSpPr txBox="1"/>
          <p:nvPr/>
        </p:nvSpPr>
        <p:spPr>
          <a:xfrm>
            <a:off x="990600" y="6593868"/>
            <a:ext cx="1021080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rgbClr val="1F497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3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 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Uji Fungsional: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Sinkronisasi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&amp; Charging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0968D3-B492-D861-B8F3-06EF1F3618E4}"/>
              </a:ext>
            </a:extLst>
          </p:cNvPr>
          <p:cNvSpPr txBox="1"/>
          <p:nvPr/>
        </p:nvSpPr>
        <p:spPr>
          <a:xfrm>
            <a:off x="8540262" y="6593867"/>
            <a:ext cx="1021080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rgbClr val="1F497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4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 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Uji IoT: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Latensi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Web Server.</a:t>
            </a:r>
          </a:p>
        </p:txBody>
      </p:sp>
    </p:spTree>
    <p:extLst>
      <p:ext uri="{BB962C8B-B14F-4D97-AF65-F5344CB8AC3E}">
        <p14:creationId xmlns:p14="http://schemas.microsoft.com/office/powerpoint/2010/main" val="1227143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01762-58B8-C7B9-F51B-97E64CF8C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97017A0-E7B5-5C14-A520-29584996325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A36E97AE-BEA5-FE55-E985-C2F0E96D1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224D05C6-E715-1129-3001-1909E7DA8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4650FA37-5834-B99A-9011-F5977D823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8E9AA7-BB48-D553-D5CF-8153730DB839}"/>
              </a:ext>
            </a:extLst>
          </p:cNvPr>
          <p:cNvSpPr txBox="1"/>
          <p:nvPr/>
        </p:nvSpPr>
        <p:spPr>
          <a:xfrm>
            <a:off x="-1828800" y="240030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>
                <a:solidFill>
                  <a:schemeClr val="bg1"/>
                </a:solidFill>
                <a:effectLst/>
              </a:rPr>
              <a:t>Uji Kinerja</a:t>
            </a:r>
            <a:r>
              <a:rPr lang="en-US" sz="6000" b="1" dirty="0">
                <a:solidFill>
                  <a:schemeClr val="bg1"/>
                </a:solidFill>
              </a:rPr>
              <a:t> </a:t>
            </a:r>
            <a:r>
              <a:rPr lang="en-US" sz="6000" b="1" dirty="0">
                <a:solidFill>
                  <a:srgbClr val="0284C7"/>
                </a:solidFill>
              </a:rPr>
              <a:t>Motor</a:t>
            </a:r>
            <a:endParaRPr lang="id-ID" sz="600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D22CF9-0261-1BB4-7B16-5D507D8540E8}"/>
              </a:ext>
            </a:extLst>
          </p:cNvPr>
          <p:cNvSpPr txBox="1"/>
          <p:nvPr/>
        </p:nvSpPr>
        <p:spPr>
          <a:xfrm>
            <a:off x="304800" y="4246487"/>
            <a:ext cx="10058400" cy="2834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Hasil &amp; </a:t>
            </a:r>
            <a:r>
              <a:rPr lang="en-US" sz="3500" b="1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Analisis</a:t>
            </a:r>
            <a:endParaRPr lang="en-US" sz="3500" b="1" dirty="0">
              <a:solidFill>
                <a:schemeClr val="tx2">
                  <a:lumMod val="20000"/>
                  <a:lumOff val="80000"/>
                </a:schemeClr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666747" marR="0" lvl="1" indent="-34290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Perintah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BUKA_1/TUTUP_1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direspon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dengan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tepat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  <a:p>
            <a:pPr marL="323847" marR="0" lvl="1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000" b="1" dirty="0">
              <a:solidFill>
                <a:schemeClr val="bg1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666747" marR="0" lvl="1" indent="-34290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Gerakan </a:t>
            </a:r>
            <a:r>
              <a:rPr lang="en-US" sz="3000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Halus</a:t>
            </a: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000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Akibat</a:t>
            </a: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000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Microstepping</a:t>
            </a: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TB6600</a:t>
            </a:r>
          </a:p>
          <a:p>
            <a:pPr marL="323847" marR="0" lvl="1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000" b="1" dirty="0">
              <a:solidFill>
                <a:schemeClr val="bg1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666747" marR="0" lvl="1" indent="-34290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Tidak </a:t>
            </a:r>
            <a:r>
              <a:rPr lang="en-US" sz="3000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ada</a:t>
            </a: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‘Step Loss’ pada </a:t>
            </a:r>
            <a:r>
              <a:rPr lang="en-US" sz="3000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beban</a:t>
            </a: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000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pintu</a:t>
            </a: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normal</a:t>
            </a:r>
          </a:p>
        </p:txBody>
      </p:sp>
    </p:spTree>
    <p:extLst>
      <p:ext uri="{BB962C8B-B14F-4D97-AF65-F5344CB8AC3E}">
        <p14:creationId xmlns:p14="http://schemas.microsoft.com/office/powerpoint/2010/main" val="2910852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E4621-3564-F5EF-6662-C7AC8BAE2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1361EE3-718C-CA3D-53E5-818876BEA21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1400694C-B6AC-6E16-98FE-0587E9153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ACB35A65-67C8-42AA-89E0-5336758CF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FDE928ED-F4FB-EB47-0AAB-8ED92A715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F2619-3DA8-1DEB-CC5C-A07171C92009}"/>
              </a:ext>
            </a:extLst>
          </p:cNvPr>
          <p:cNvSpPr txBox="1"/>
          <p:nvPr/>
        </p:nvSpPr>
        <p:spPr>
          <a:xfrm>
            <a:off x="-1828800" y="240030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>
                <a:solidFill>
                  <a:schemeClr val="bg1"/>
                </a:solidFill>
                <a:effectLst/>
              </a:rPr>
              <a:t>Uji </a:t>
            </a:r>
            <a:r>
              <a:rPr lang="en-US" sz="6000" b="1" i="0" dirty="0" err="1">
                <a:solidFill>
                  <a:schemeClr val="bg1"/>
                </a:solidFill>
                <a:effectLst/>
              </a:rPr>
              <a:t>Sistem</a:t>
            </a:r>
            <a:r>
              <a:rPr lang="en-US" sz="6000" b="1" dirty="0">
                <a:solidFill>
                  <a:schemeClr val="bg1"/>
                </a:solidFill>
              </a:rPr>
              <a:t> </a:t>
            </a:r>
            <a:r>
              <a:rPr lang="en-US" sz="6000" b="1" dirty="0" err="1">
                <a:solidFill>
                  <a:srgbClr val="0284C7"/>
                </a:solidFill>
              </a:rPr>
              <a:t>Proteksi</a:t>
            </a:r>
            <a:endParaRPr lang="id-ID" sz="600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15C93B-52F8-5A64-E092-6695A1183D99}"/>
              </a:ext>
            </a:extLst>
          </p:cNvPr>
          <p:cNvSpPr txBox="1"/>
          <p:nvPr/>
        </p:nvSpPr>
        <p:spPr>
          <a:xfrm>
            <a:off x="304800" y="4060494"/>
            <a:ext cx="15163800" cy="210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Limit Switch</a:t>
            </a:r>
          </a:p>
          <a:p>
            <a:pPr marL="323847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Motor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berhenti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&lt; 120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ms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setelah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switch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tertekan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. Debounce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berfungsi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baik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mencegah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bouncing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sinyal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9D090C-D10B-2F27-11D4-F07E2C05E35B}"/>
              </a:ext>
            </a:extLst>
          </p:cNvPr>
          <p:cNvSpPr txBox="1"/>
          <p:nvPr/>
        </p:nvSpPr>
        <p:spPr>
          <a:xfrm>
            <a:off x="328246" y="6438025"/>
            <a:ext cx="15140354" cy="210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Optocoupler</a:t>
            </a:r>
          </a:p>
          <a:p>
            <a:pPr marL="323847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Sinyal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dikirim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menggunakan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cahaya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,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sehingga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Back-EMF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atau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lonjakan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tegangan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dari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motor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tidak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akan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pernah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bisa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merusak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mikrokontroler</a:t>
            </a:r>
            <a:r>
              <a:rPr kumimoji="0" lang="en-US" sz="29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</a:t>
            </a:r>
            <a:endParaRPr kumimoji="0" lang="en-US" sz="2999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4155916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7890A-B92D-F8A3-F8C7-FDEA39988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A6B241C-C377-2791-BA51-3E84090437F9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C31F7021-35F0-560D-E606-89805279C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5AEA9857-8AE4-5CDD-B4D2-504602265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89403063-A991-36A7-D608-A80AE3233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B9CC5D-3D0E-9541-875E-C308FB902245}"/>
              </a:ext>
            </a:extLst>
          </p:cNvPr>
          <p:cNvSpPr txBox="1"/>
          <p:nvPr/>
        </p:nvSpPr>
        <p:spPr>
          <a:xfrm>
            <a:off x="-3505200" y="261698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>
                <a:solidFill>
                  <a:schemeClr val="bg1"/>
                </a:solidFill>
                <a:effectLst/>
              </a:rPr>
              <a:t>Uji </a:t>
            </a:r>
            <a:r>
              <a:rPr lang="en-US" sz="6000" b="1" i="0" dirty="0" err="1">
                <a:solidFill>
                  <a:srgbClr val="0284C7"/>
                </a:solidFill>
                <a:effectLst/>
              </a:rPr>
              <a:t>Komunikasi</a:t>
            </a:r>
            <a:endParaRPr lang="id-ID" sz="6000" dirty="0">
              <a:effectLst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E65085-1AF7-C215-BAEF-E3D4D37DB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083514"/>
              </p:ext>
            </p:extLst>
          </p:nvPr>
        </p:nvGraphicFramePr>
        <p:xfrm>
          <a:off x="2590800" y="4609904"/>
          <a:ext cx="13106400" cy="363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800">
                  <a:extLst>
                    <a:ext uri="{9D8B030D-6E8A-4147-A177-3AD203B41FA5}">
                      <a16:colId xmlns:a16="http://schemas.microsoft.com/office/drawing/2014/main" val="1722942245"/>
                    </a:ext>
                  </a:extLst>
                </a:gridCol>
                <a:gridCol w="4368800">
                  <a:extLst>
                    <a:ext uri="{9D8B030D-6E8A-4147-A177-3AD203B41FA5}">
                      <a16:colId xmlns:a16="http://schemas.microsoft.com/office/drawing/2014/main" val="3191568008"/>
                    </a:ext>
                  </a:extLst>
                </a:gridCol>
                <a:gridCol w="4368800">
                  <a:extLst>
                    <a:ext uri="{9D8B030D-6E8A-4147-A177-3AD203B41FA5}">
                      <a16:colId xmlns:a16="http://schemas.microsoft.com/office/drawing/2014/main" val="905992514"/>
                    </a:ext>
                  </a:extLst>
                </a:gridCol>
              </a:tblGrid>
              <a:tr h="90932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1" i="0" dirty="0">
                          <a:solidFill>
                            <a:srgbClr val="0F172A"/>
                          </a:solidFill>
                          <a:effectLst/>
                        </a:rPr>
                        <a:t>Item Uji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1" i="0">
                          <a:solidFill>
                            <a:srgbClr val="0F172A"/>
                          </a:solidFill>
                          <a:effectLst/>
                        </a:rPr>
                        <a:t>Observasi</a:t>
                      </a:r>
                      <a:endParaRPr lang="id-ID" sz="30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1" i="0">
                          <a:solidFill>
                            <a:srgbClr val="0F172A"/>
                          </a:solidFill>
                          <a:effectLst/>
                        </a:rPr>
                        <a:t>Hasil</a:t>
                      </a:r>
                      <a:endParaRPr lang="id-ID" sz="30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4011239"/>
                  </a:ext>
                </a:extLst>
              </a:tr>
              <a:tr h="90932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 dirty="0">
                          <a:solidFill>
                            <a:srgbClr val="475569"/>
                          </a:solidFill>
                          <a:effectLst/>
                        </a:rPr>
                        <a:t>Kirim Perintah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 dirty="0">
                          <a:solidFill>
                            <a:srgbClr val="475569"/>
                          </a:solidFill>
                          <a:effectLst/>
                        </a:rPr>
                        <a:t>Diterima utuh oleh Mega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>
                          <a:solidFill>
                            <a:srgbClr val="475569"/>
                          </a:solidFill>
                          <a:effectLst/>
                        </a:rPr>
                        <a:t>BERHASIL</a:t>
                      </a:r>
                      <a:endParaRPr lang="id-ID" sz="30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1118729"/>
                  </a:ext>
                </a:extLst>
              </a:tr>
              <a:tr h="90932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>
                          <a:solidFill>
                            <a:srgbClr val="475569"/>
                          </a:solidFill>
                          <a:effectLst/>
                        </a:rPr>
                        <a:t>Kirim Status</a:t>
                      </a:r>
                      <a:endParaRPr lang="id-ID" sz="30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 dirty="0" err="1">
                          <a:solidFill>
                            <a:srgbClr val="475569"/>
                          </a:solidFill>
                          <a:effectLst/>
                        </a:rPr>
                        <a:t>Update</a:t>
                      </a:r>
                      <a:r>
                        <a:rPr lang="id-ID" sz="3000" b="0" i="0" dirty="0">
                          <a:solidFill>
                            <a:srgbClr val="475569"/>
                          </a:solidFill>
                          <a:effectLst/>
                        </a:rPr>
                        <a:t> real-</a:t>
                      </a:r>
                      <a:r>
                        <a:rPr lang="id-ID" sz="3000" b="0" i="0" dirty="0" err="1">
                          <a:solidFill>
                            <a:srgbClr val="475569"/>
                          </a:solidFill>
                          <a:effectLst/>
                        </a:rPr>
                        <a:t>time</a:t>
                      </a:r>
                      <a:r>
                        <a:rPr lang="id-ID" sz="3000" b="0" i="0" dirty="0">
                          <a:solidFill>
                            <a:srgbClr val="475569"/>
                          </a:solidFill>
                          <a:effectLst/>
                        </a:rPr>
                        <a:t> (500ms)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>
                          <a:solidFill>
                            <a:srgbClr val="475569"/>
                          </a:solidFill>
                          <a:effectLst/>
                        </a:rPr>
                        <a:t>BERHASIL</a:t>
                      </a:r>
                      <a:endParaRPr lang="id-ID" sz="30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6691730"/>
                  </a:ext>
                </a:extLst>
              </a:tr>
              <a:tr h="90932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>
                          <a:solidFill>
                            <a:srgbClr val="475569"/>
                          </a:solidFill>
                          <a:effectLst/>
                        </a:rPr>
                        <a:t>Stabilitas</a:t>
                      </a:r>
                      <a:endParaRPr lang="id-ID" sz="30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 dirty="0">
                          <a:solidFill>
                            <a:srgbClr val="475569"/>
                          </a:solidFill>
                          <a:effectLst/>
                        </a:rPr>
                        <a:t>Tidak ada data </a:t>
                      </a:r>
                      <a:r>
                        <a:rPr lang="id-ID" sz="3000" b="0" i="0" dirty="0" err="1">
                          <a:solidFill>
                            <a:srgbClr val="475569"/>
                          </a:solidFill>
                          <a:effectLst/>
                        </a:rPr>
                        <a:t>corrupt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 dirty="0">
                          <a:solidFill>
                            <a:srgbClr val="475569"/>
                          </a:solidFill>
                          <a:effectLst/>
                        </a:rPr>
                        <a:t>STABIL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363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394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AAE83-DFF7-F86F-D9F4-E1B38BDC2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D2E324B-9DB9-02C8-FE9B-18FC978E9255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669F70A2-159B-B127-D298-16B522372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158DB0A6-7777-C4F9-DC24-C2E148273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239C65C9-C850-2356-EA09-CD0E9D262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50CB3A-F396-F937-0D6B-3927D893FE1B}"/>
              </a:ext>
            </a:extLst>
          </p:cNvPr>
          <p:cNvSpPr txBox="1"/>
          <p:nvPr/>
        </p:nvSpPr>
        <p:spPr>
          <a:xfrm>
            <a:off x="-3505200" y="261698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>
                <a:solidFill>
                  <a:schemeClr val="bg1"/>
                </a:solidFill>
                <a:effectLst/>
              </a:rPr>
              <a:t>Uji </a:t>
            </a:r>
            <a:r>
              <a:rPr lang="en-US" sz="6000" b="1" i="0" dirty="0" err="1">
                <a:solidFill>
                  <a:srgbClr val="0284C7"/>
                </a:solidFill>
                <a:effectLst/>
              </a:rPr>
              <a:t>Sinkronisasi</a:t>
            </a:r>
            <a:endParaRPr lang="id-ID" sz="60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20B388-68A9-7689-415C-B4FD2EE6ABA5}"/>
              </a:ext>
            </a:extLst>
          </p:cNvPr>
          <p:cNvSpPr txBox="1"/>
          <p:nvPr/>
        </p:nvSpPr>
        <p:spPr>
          <a:xfrm>
            <a:off x="152400" y="5464075"/>
            <a:ext cx="1005840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Mode BUKA_BERSAMA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Motor 1 jalan -&gt; Jeda 1300ms -&gt; Motor 2 jalan.</a:t>
            </a:r>
            <a:endParaRPr lang="en-US" sz="2999" b="1" dirty="0">
              <a:solidFill>
                <a:schemeClr val="bg1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20B5D4-D761-40C8-E16A-6A3060A768CE}"/>
              </a:ext>
            </a:extLst>
          </p:cNvPr>
          <p:cNvSpPr txBox="1"/>
          <p:nvPr/>
        </p:nvSpPr>
        <p:spPr>
          <a:xfrm>
            <a:off x="8534400" y="5432377"/>
            <a:ext cx="1090246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Mode TUTUP_BERSAMA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Motor 2 jalan -&gt; Jeda 1300ms -&gt; Motor 1 jalan.</a:t>
            </a:r>
            <a:endParaRPr kumimoji="0" lang="en-US" sz="2999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1CB318-8BA5-1C9E-7719-20771ED32948}"/>
              </a:ext>
            </a:extLst>
          </p:cNvPr>
          <p:cNvSpPr txBox="1"/>
          <p:nvPr/>
        </p:nvSpPr>
        <p:spPr>
          <a:xfrm>
            <a:off x="4991100" y="8482010"/>
            <a:ext cx="7086600" cy="543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Timing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Presisi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Dieksekusi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oleh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millis</a:t>
            </a:r>
            <a:r>
              <a:rPr lang="en-US" sz="2999" b="1" dirty="0">
                <a:solidFill>
                  <a:srgbClr val="1F497D">
                    <a:lumMod val="20000"/>
                    <a:lumOff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().</a:t>
            </a:r>
            <a:endParaRPr kumimoji="0" lang="en-US" sz="2999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733588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ADE27-1628-6DF4-FBED-5FDA932DB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12F9B05-42CA-7499-0F4B-199336040521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2DCD276B-143C-5BAA-A4D9-C660460CC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333050B3-C060-E8DF-1020-01458497F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67EEAE0E-75B4-C3A6-7C02-47E6B2093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665632-A198-4767-AD78-C06217B383E1}"/>
              </a:ext>
            </a:extLst>
          </p:cNvPr>
          <p:cNvSpPr txBox="1"/>
          <p:nvPr/>
        </p:nvSpPr>
        <p:spPr>
          <a:xfrm>
            <a:off x="5600700" y="1714500"/>
            <a:ext cx="7086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>
                <a:solidFill>
                  <a:schemeClr val="bg1"/>
                </a:solidFill>
                <a:effectLst/>
              </a:rPr>
              <a:t>Video Uji </a:t>
            </a:r>
            <a:r>
              <a:rPr lang="en-US" sz="6000" b="1" i="0" dirty="0" err="1">
                <a:solidFill>
                  <a:schemeClr val="bg1"/>
                </a:solidFill>
                <a:effectLst/>
              </a:rPr>
              <a:t>Sinkronisasi</a:t>
            </a:r>
            <a:endParaRPr lang="id-ID" sz="6000" dirty="0">
              <a:effectLst/>
            </a:endParaRPr>
          </a:p>
        </p:txBody>
      </p:sp>
      <p:pic>
        <p:nvPicPr>
          <p:cNvPr id="3" name="WhatsApp Video 2025-11-28 at 08.20.18_b777f8ea">
            <a:hlinkClick r:id="" action="ppaction://media"/>
            <a:extLst>
              <a:ext uri="{FF2B5EF4-FFF2-40B4-BE49-F238E27FC236}">
                <a16:creationId xmlns:a16="http://schemas.microsoft.com/office/drawing/2014/main" id="{F2CBF111-2D1B-8743-636F-6AD4901CB25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328319" y="3143914"/>
            <a:ext cx="9631362" cy="542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29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62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A8559-437C-E06B-B9AC-24C3DFD33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FE3BD95-F12F-87D0-AC61-DD5BC1363A82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B8261204-B23B-5CF8-1594-C648E6842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9816DC19-5785-4495-C5E5-F921C70AC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95519914-5693-2B0A-6C7C-4E51AB60A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158992-E0FE-334A-23A9-5DE0E512CDAA}"/>
              </a:ext>
            </a:extLst>
          </p:cNvPr>
          <p:cNvSpPr txBox="1"/>
          <p:nvPr/>
        </p:nvSpPr>
        <p:spPr>
          <a:xfrm>
            <a:off x="-2693377" y="270510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>
                <a:solidFill>
                  <a:schemeClr val="bg1"/>
                </a:solidFill>
                <a:effectLst/>
              </a:rPr>
              <a:t>Uji </a:t>
            </a:r>
            <a:r>
              <a:rPr lang="en-US" sz="6000" b="1" i="0" dirty="0" err="1">
                <a:solidFill>
                  <a:schemeClr val="bg1"/>
                </a:solidFill>
                <a:effectLst/>
              </a:rPr>
              <a:t>Latensi</a:t>
            </a:r>
            <a:r>
              <a:rPr lang="en-US" sz="6000" b="1" i="0" dirty="0">
                <a:solidFill>
                  <a:schemeClr val="bg1"/>
                </a:solidFill>
                <a:effectLst/>
              </a:rPr>
              <a:t> </a:t>
            </a:r>
            <a:r>
              <a:rPr lang="en-US" sz="6000" b="1" i="0" dirty="0" err="1">
                <a:solidFill>
                  <a:srgbClr val="0284C7"/>
                </a:solidFill>
                <a:effectLst/>
              </a:rPr>
              <a:t>WebUI</a:t>
            </a:r>
            <a:endParaRPr lang="id-ID" sz="60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DF235F-B02B-7A4C-B922-098BA07928C1}"/>
              </a:ext>
            </a:extLst>
          </p:cNvPr>
          <p:cNvSpPr txBox="1"/>
          <p:nvPr/>
        </p:nvSpPr>
        <p:spPr>
          <a:xfrm>
            <a:off x="8194431" y="5387431"/>
            <a:ext cx="10058400" cy="1467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Temuan</a:t>
            </a:r>
            <a:endParaRPr lang="en-US" sz="2999" b="1" dirty="0">
              <a:solidFill>
                <a:schemeClr val="accent1">
                  <a:lumMod val="40000"/>
                  <a:lumOff val="60000"/>
                </a:schemeClr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323847" marR="0" lvl="1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sv-SE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Terdapat Lag Visual kecil jika log data terlalu panjang namun tidak mengganggu fungsi kontrol.</a:t>
            </a:r>
            <a:endParaRPr lang="en-US" sz="2999" b="1" dirty="0">
              <a:solidFill>
                <a:schemeClr val="bg1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237E5-403B-09AA-F318-8E52ABC6F6B7}"/>
              </a:ext>
            </a:extLst>
          </p:cNvPr>
          <p:cNvSpPr txBox="1"/>
          <p:nvPr/>
        </p:nvSpPr>
        <p:spPr>
          <a:xfrm>
            <a:off x="-152400" y="5164015"/>
            <a:ext cx="10492154" cy="1911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 err="1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Respon</a:t>
            </a:r>
            <a:r>
              <a:rPr lang="en-US" sz="2999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Time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999" b="1" dirty="0">
              <a:solidFill>
                <a:srgbClr val="4F81BD">
                  <a:lumMod val="40000"/>
                  <a:lumOff val="60000"/>
                </a:srgbClr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6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150 – 300 ms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Rata</a:t>
            </a:r>
            <a:r>
              <a:rPr lang="sv-SE" sz="2500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-Rata waktu dari klik tombol hingga motor bergerak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3407242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E790C-20AF-09DB-172B-E9EA69504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709C320-729F-AD77-F9ED-F79DDA588DDC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6509D454-4132-3363-B542-0AD459C1A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B25213CD-AF8B-04D5-10C8-F1E6AD0F4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125F87EE-4016-A4A6-583D-B80E5D20E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5B61A8-7FE8-13A1-82EE-5751A17417A7}"/>
              </a:ext>
            </a:extLst>
          </p:cNvPr>
          <p:cNvSpPr txBox="1"/>
          <p:nvPr/>
        </p:nvSpPr>
        <p:spPr>
          <a:xfrm>
            <a:off x="-2693377" y="270510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dirty="0" err="1">
                <a:solidFill>
                  <a:schemeClr val="bg1"/>
                </a:solidFill>
              </a:rPr>
              <a:t>Analisis</a:t>
            </a:r>
            <a:r>
              <a:rPr lang="en-US" sz="6000" b="1" dirty="0">
                <a:solidFill>
                  <a:schemeClr val="bg1"/>
                </a:solidFill>
              </a:rPr>
              <a:t> </a:t>
            </a:r>
            <a:r>
              <a:rPr lang="en-US" sz="6000" b="1" dirty="0" err="1">
                <a:solidFill>
                  <a:srgbClr val="0284C7"/>
                </a:solidFill>
              </a:rPr>
              <a:t>Sistem</a:t>
            </a:r>
            <a:endParaRPr lang="id-ID" sz="60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AE8518-EC43-75D5-1A98-B14443887E32}"/>
              </a:ext>
            </a:extLst>
          </p:cNvPr>
          <p:cNvSpPr txBox="1"/>
          <p:nvPr/>
        </p:nvSpPr>
        <p:spPr>
          <a:xfrm>
            <a:off x="8194431" y="5387431"/>
            <a:ext cx="7959969" cy="1460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Integrasi</a:t>
            </a:r>
          </a:p>
          <a:p>
            <a:pPr marL="323847" marR="0" lvl="1" algn="just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sv-SE" sz="28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ATMega2560 dan ESP32 bekerja harmonis menhubungkan hardware fisik dan web</a:t>
            </a:r>
            <a:endParaRPr lang="en-US" sz="2800" b="1" dirty="0">
              <a:solidFill>
                <a:schemeClr val="bg1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FCB6F-A51B-0747-42F2-A75DE44FB959}"/>
              </a:ext>
            </a:extLst>
          </p:cNvPr>
          <p:cNvSpPr txBox="1"/>
          <p:nvPr/>
        </p:nvSpPr>
        <p:spPr>
          <a:xfrm>
            <a:off x="0" y="5387431"/>
            <a:ext cx="7959968" cy="1460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b="1" dirty="0" err="1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Reabilitas</a:t>
            </a:r>
            <a:r>
              <a:rPr lang="en-US" sz="3500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2800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Sistem stabil dalam pengujian jangka panjang. 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Tidak ada crash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14987392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AC271-29A0-0935-B356-4F104848C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BDD2347-65F0-316F-CA01-31521E319633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D9ECD6DF-B68C-A951-D142-9A73DBDB2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F875E5E1-621A-D866-B978-BCDB89E4B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64B38650-0E11-8C43-F337-EA159231F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C8AE53-CBAB-8449-F125-67548CE962CE}"/>
              </a:ext>
            </a:extLst>
          </p:cNvPr>
          <p:cNvSpPr txBox="1"/>
          <p:nvPr/>
        </p:nvSpPr>
        <p:spPr>
          <a:xfrm>
            <a:off x="-2693377" y="270510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dirty="0">
                <a:solidFill>
                  <a:schemeClr val="bg1"/>
                </a:solidFill>
              </a:rPr>
              <a:t>Kesimpulan </a:t>
            </a:r>
            <a:r>
              <a:rPr lang="en-US" sz="6000" b="1" dirty="0" err="1">
                <a:solidFill>
                  <a:srgbClr val="0284C7"/>
                </a:solidFill>
              </a:rPr>
              <a:t>Sistem</a:t>
            </a:r>
            <a:endParaRPr lang="id-ID" sz="60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01F166-E448-6699-C4DC-AC2C06F9EE4D}"/>
              </a:ext>
            </a:extLst>
          </p:cNvPr>
          <p:cNvSpPr txBox="1"/>
          <p:nvPr/>
        </p:nvSpPr>
        <p:spPr>
          <a:xfrm>
            <a:off x="1184031" y="4827844"/>
            <a:ext cx="13598769" cy="3244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Kontrol</a:t>
            </a:r>
            <a:r>
              <a:rPr lang="en-US" sz="35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5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Sukses</a:t>
            </a:r>
            <a:r>
              <a:rPr lang="en-US" sz="35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 : </a:t>
            </a:r>
            <a:r>
              <a:rPr lang="sv-SE" sz="28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Sistem Pintu otomatis ganda berfungsi dan presisi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3500" b="1" dirty="0" err="1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Proteksi</a:t>
            </a:r>
            <a:r>
              <a:rPr lang="en-US" sz="3500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500" b="1" dirty="0" err="1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Efektif</a:t>
            </a:r>
            <a:r>
              <a:rPr lang="en-US" sz="3500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: </a:t>
            </a:r>
            <a:r>
              <a:rPr lang="sv-SE" sz="28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Optocoupler &amp; Limit Switch berhasil melindungi hardware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3500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IoT </a:t>
            </a:r>
            <a:r>
              <a:rPr lang="en-US" sz="3500" b="1" dirty="0" err="1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Berjalan</a:t>
            </a:r>
            <a:r>
              <a:rPr lang="en-US" sz="3500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     : </a:t>
            </a:r>
            <a:r>
              <a:rPr lang="sv-SE" sz="2800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Web Server ESP32 stabil untuk monitoring real-time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3500" b="1" dirty="0" err="1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Siap</a:t>
            </a:r>
            <a:r>
              <a:rPr lang="en-US" sz="3500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Pakai	      : </a:t>
            </a:r>
            <a:r>
              <a:rPr lang="sv-SE" sz="2800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Layak digunakan sebagai prototipe docking Station</a:t>
            </a:r>
            <a:endParaRPr lang="en-US" sz="2800" b="1" dirty="0">
              <a:solidFill>
                <a:schemeClr val="bg1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2024069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5C461-59AE-521D-E5F9-424A97EC2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523D0F3-5DC2-8B59-E79D-3943477F10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590E081A-E33D-F348-81DF-96AC5B812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B20586EB-FD98-3999-D743-045FDBA2C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AE4A2BF7-024E-CB90-239F-7BEA3CE2A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B545B6-C14E-A5FF-85B5-F9CB8C8B60DF}"/>
              </a:ext>
            </a:extLst>
          </p:cNvPr>
          <p:cNvSpPr txBox="1"/>
          <p:nvPr/>
        </p:nvSpPr>
        <p:spPr>
          <a:xfrm>
            <a:off x="2095500" y="1462032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 err="1">
                <a:solidFill>
                  <a:schemeClr val="bg1"/>
                </a:solidFill>
                <a:effectLst/>
              </a:rPr>
              <a:t>Dokumentasi</a:t>
            </a:r>
            <a:r>
              <a:rPr lang="en-US" sz="6000" b="1" i="0" dirty="0">
                <a:solidFill>
                  <a:schemeClr val="bg1"/>
                </a:solidFill>
                <a:effectLst/>
              </a:rPr>
              <a:t> </a:t>
            </a:r>
            <a:r>
              <a:rPr lang="en-US" sz="6000" b="1" i="0" dirty="0" err="1">
                <a:solidFill>
                  <a:srgbClr val="0284C7"/>
                </a:solidFill>
                <a:effectLst/>
              </a:rPr>
              <a:t>Kegiata</a:t>
            </a:r>
            <a:r>
              <a:rPr lang="en-US" sz="6000" b="1" dirty="0" err="1">
                <a:solidFill>
                  <a:srgbClr val="0284C7"/>
                </a:solidFill>
              </a:rPr>
              <a:t>n</a:t>
            </a:r>
            <a:endParaRPr lang="id-ID" sz="6000" dirty="0">
              <a:effectLst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337831-54B2-20E6-61D2-B090F59BCA1C}"/>
              </a:ext>
            </a:extLst>
          </p:cNvPr>
          <p:cNvGrpSpPr/>
          <p:nvPr/>
        </p:nvGrpSpPr>
        <p:grpSpPr>
          <a:xfrm>
            <a:off x="981076" y="3001286"/>
            <a:ext cx="4991100" cy="6317484"/>
            <a:chOff x="2171700" y="3321816"/>
            <a:chExt cx="4991100" cy="631748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8154BEC-B43F-FD69-57A6-179DFC613206}"/>
                </a:ext>
              </a:extLst>
            </p:cNvPr>
            <p:cNvSpPr>
              <a:spLocks/>
            </p:cNvSpPr>
            <p:nvPr/>
          </p:nvSpPr>
          <p:spPr>
            <a:xfrm>
              <a:off x="2171700" y="3321816"/>
              <a:ext cx="4991100" cy="631748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E54BC95-74E7-1247-F320-7A7702BE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3699" y="3675630"/>
              <a:ext cx="4207102" cy="560985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91F7D6D-308C-6EA0-94EE-ECA7EC58F113}"/>
              </a:ext>
            </a:extLst>
          </p:cNvPr>
          <p:cNvGrpSpPr/>
          <p:nvPr/>
        </p:nvGrpSpPr>
        <p:grpSpPr>
          <a:xfrm>
            <a:off x="6648450" y="3001286"/>
            <a:ext cx="4991100" cy="6317479"/>
            <a:chOff x="10191750" y="3009905"/>
            <a:chExt cx="4991100" cy="631747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A5D7AA1-E283-6C30-B5F0-B436B1E00CC8}"/>
                </a:ext>
              </a:extLst>
            </p:cNvPr>
            <p:cNvSpPr/>
            <p:nvPr/>
          </p:nvSpPr>
          <p:spPr>
            <a:xfrm>
              <a:off x="10191750" y="3009905"/>
              <a:ext cx="4991100" cy="631747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1F71388-1174-1018-0721-D5DEF8071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83314" y="3363714"/>
              <a:ext cx="4207971" cy="560985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9CAB8D4-A4EA-8FDC-3AA4-C334AA0BE972}"/>
              </a:ext>
            </a:extLst>
          </p:cNvPr>
          <p:cNvGrpSpPr/>
          <p:nvPr/>
        </p:nvGrpSpPr>
        <p:grpSpPr>
          <a:xfrm>
            <a:off x="12203179" y="3001286"/>
            <a:ext cx="4991100" cy="6317479"/>
            <a:chOff x="12203179" y="3001286"/>
            <a:chExt cx="4991100" cy="631747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B871B65-538E-DAD8-5362-8A970E809490}"/>
                </a:ext>
              </a:extLst>
            </p:cNvPr>
            <p:cNvSpPr/>
            <p:nvPr/>
          </p:nvSpPr>
          <p:spPr>
            <a:xfrm>
              <a:off x="12203179" y="3001286"/>
              <a:ext cx="4991100" cy="631747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50FE028-82ED-EC23-326C-2E9EC8F15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94744" y="3355095"/>
              <a:ext cx="4207970" cy="5611399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95990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602C7-069F-34C9-E4F5-861C530D4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98FE033-F415-2FC5-B133-8A9C4912D4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C8798AC2-EE9B-8B3B-71BB-7B088869D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F15402E8-671C-770E-71EC-11B985AF8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DEECC41E-5126-B4FA-4F46-81FD1A29D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766B1-23C3-2AD8-F6C5-931821A37CA3}"/>
              </a:ext>
            </a:extLst>
          </p:cNvPr>
          <p:cNvSpPr txBox="1"/>
          <p:nvPr/>
        </p:nvSpPr>
        <p:spPr>
          <a:xfrm>
            <a:off x="2095500" y="1462032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 err="1">
                <a:solidFill>
                  <a:schemeClr val="bg1"/>
                </a:solidFill>
                <a:effectLst/>
              </a:rPr>
              <a:t>Dokumentasi</a:t>
            </a:r>
            <a:r>
              <a:rPr lang="en-US" sz="6000" b="1" i="0" dirty="0">
                <a:solidFill>
                  <a:schemeClr val="bg1"/>
                </a:solidFill>
                <a:effectLst/>
              </a:rPr>
              <a:t> </a:t>
            </a:r>
            <a:r>
              <a:rPr lang="en-US" sz="6000" b="1" i="0" dirty="0" err="1">
                <a:solidFill>
                  <a:srgbClr val="0284C7"/>
                </a:solidFill>
                <a:effectLst/>
              </a:rPr>
              <a:t>Kegiata</a:t>
            </a:r>
            <a:r>
              <a:rPr lang="en-US" sz="6000" b="1" dirty="0" err="1">
                <a:solidFill>
                  <a:srgbClr val="0284C7"/>
                </a:solidFill>
              </a:rPr>
              <a:t>n</a:t>
            </a:r>
            <a:endParaRPr lang="id-ID" sz="6000" dirty="0">
              <a:effectLst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547EF89-9F84-27C1-0251-4602DA7A6B26}"/>
              </a:ext>
            </a:extLst>
          </p:cNvPr>
          <p:cNvGrpSpPr/>
          <p:nvPr/>
        </p:nvGrpSpPr>
        <p:grpSpPr>
          <a:xfrm>
            <a:off x="2596945" y="3001284"/>
            <a:ext cx="4991100" cy="6317484"/>
            <a:chOff x="2596945" y="3001284"/>
            <a:chExt cx="4991100" cy="631748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24DD856-28B9-BEA9-31EC-8B50FF52FC3B}"/>
                </a:ext>
              </a:extLst>
            </p:cNvPr>
            <p:cNvSpPr>
              <a:spLocks/>
            </p:cNvSpPr>
            <p:nvPr/>
          </p:nvSpPr>
          <p:spPr>
            <a:xfrm>
              <a:off x="2596945" y="3001284"/>
              <a:ext cx="4991100" cy="631748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F94A4C0-014B-4CE1-04FF-D17369B48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8799" y="3355099"/>
              <a:ext cx="4207391" cy="560985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E272BCF-7F65-92BA-5D36-5FF2B0E5CA61}"/>
              </a:ext>
            </a:extLst>
          </p:cNvPr>
          <p:cNvGrpSpPr/>
          <p:nvPr/>
        </p:nvGrpSpPr>
        <p:grpSpPr>
          <a:xfrm>
            <a:off x="10184990" y="3001284"/>
            <a:ext cx="4991100" cy="6317484"/>
            <a:chOff x="10184990" y="3001284"/>
            <a:chExt cx="4991100" cy="631748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646B033-21A2-0CF3-1696-0D24AEB7FCAF}"/>
                </a:ext>
              </a:extLst>
            </p:cNvPr>
            <p:cNvSpPr>
              <a:spLocks/>
            </p:cNvSpPr>
            <p:nvPr/>
          </p:nvSpPr>
          <p:spPr>
            <a:xfrm>
              <a:off x="10184990" y="3001284"/>
              <a:ext cx="4991100" cy="631748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7DEFEAB-0DF1-8661-5BE3-1FEA0D738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77417" y="3355099"/>
              <a:ext cx="4206245" cy="5609854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4371103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296DC-3CEB-3A89-2A4B-0C13E3AA3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4B7B4DF-8893-1C5C-A649-6D2A5499C71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EAF3E81E-1843-C253-CFC7-0BF412B2B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AA00E2A1-16C8-B1D5-F3B2-4A36E71A5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94CC957F-B88D-67A4-9CDF-3DE8736F5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A59851-8CF4-E73B-3174-911CAA5E434F}"/>
              </a:ext>
            </a:extLst>
          </p:cNvPr>
          <p:cNvSpPr txBox="1"/>
          <p:nvPr/>
        </p:nvSpPr>
        <p:spPr>
          <a:xfrm>
            <a:off x="2095500" y="3820061"/>
            <a:ext cx="14097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8000" b="1" i="0" dirty="0" err="1">
                <a:solidFill>
                  <a:schemeClr val="bg1"/>
                </a:solidFill>
                <a:effectLst/>
              </a:rPr>
              <a:t>Terima</a:t>
            </a:r>
            <a:r>
              <a:rPr lang="en-US" sz="8000" b="1" i="0" dirty="0">
                <a:solidFill>
                  <a:schemeClr val="bg1"/>
                </a:solidFill>
                <a:effectLst/>
              </a:rPr>
              <a:t> </a:t>
            </a:r>
            <a:r>
              <a:rPr lang="en-US" sz="8000" b="1" i="0" dirty="0" err="1">
                <a:solidFill>
                  <a:schemeClr val="bg1"/>
                </a:solidFill>
                <a:effectLst/>
              </a:rPr>
              <a:t>kasih</a:t>
            </a:r>
            <a:r>
              <a:rPr lang="en-US" sz="8000" b="1" i="0" dirty="0">
                <a:solidFill>
                  <a:schemeClr val="bg1"/>
                </a:solidFill>
                <a:effectLst/>
              </a:rPr>
              <a:t> </a:t>
            </a:r>
            <a:endParaRPr lang="id-ID" sz="8000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26E503-56B7-20FD-1770-C00A4EA57A69}"/>
              </a:ext>
            </a:extLst>
          </p:cNvPr>
          <p:cNvSpPr txBox="1"/>
          <p:nvPr/>
        </p:nvSpPr>
        <p:spPr>
          <a:xfrm>
            <a:off x="6229350" y="6348295"/>
            <a:ext cx="5829300" cy="56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YANUARDI – 221344031</a:t>
            </a:r>
            <a:endParaRPr kumimoji="0" lang="en-US" sz="35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13523C-B854-5F33-34A5-A7F44CC00C6A}"/>
              </a:ext>
            </a:extLst>
          </p:cNvPr>
          <p:cNvCxnSpPr/>
          <p:nvPr/>
        </p:nvCxnSpPr>
        <p:spPr>
          <a:xfrm>
            <a:off x="304800" y="6210300"/>
            <a:ext cx="17678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773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</TotalTime>
  <Words>1363</Words>
  <Application>Microsoft Office PowerPoint</Application>
  <PresentationFormat>Custom</PresentationFormat>
  <Paragraphs>184</Paragraphs>
  <Slides>22</Slides>
  <Notes>21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 MT Pro Bold</vt:lpstr>
      <vt:lpstr>Calibri</vt:lpstr>
      <vt:lpstr>Arial MT Pro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PPT Seminar KP - Telkom 2024.pptx</dc:title>
  <dc:creator>Yanuardi</dc:creator>
  <cp:lastModifiedBy>YANUARDI</cp:lastModifiedBy>
  <cp:revision>9</cp:revision>
  <dcterms:created xsi:type="dcterms:W3CDTF">2006-08-16T00:00:00Z</dcterms:created>
  <dcterms:modified xsi:type="dcterms:W3CDTF">2025-12-09T10:10:05Z</dcterms:modified>
  <dc:identifier>DAGSmakPTco</dc:identifier>
</cp:coreProperties>
</file>